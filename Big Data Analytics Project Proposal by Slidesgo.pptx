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4"/>
  </p:notesMasterIdLst>
  <p:sldIdLst>
    <p:sldId id="256" r:id="rId2"/>
    <p:sldId id="296" r:id="rId3"/>
    <p:sldId id="270" r:id="rId4"/>
    <p:sldId id="260" r:id="rId5"/>
    <p:sldId id="297" r:id="rId6"/>
    <p:sldId id="298" r:id="rId7"/>
    <p:sldId id="310" r:id="rId8"/>
    <p:sldId id="299" r:id="rId9"/>
    <p:sldId id="300" r:id="rId10"/>
    <p:sldId id="259" r:id="rId11"/>
    <p:sldId id="273" r:id="rId12"/>
    <p:sldId id="302" r:id="rId13"/>
    <p:sldId id="313" r:id="rId14"/>
    <p:sldId id="261" r:id="rId15"/>
    <p:sldId id="301" r:id="rId16"/>
    <p:sldId id="318" r:id="rId17"/>
    <p:sldId id="322" r:id="rId18"/>
    <p:sldId id="303" r:id="rId19"/>
    <p:sldId id="316" r:id="rId20"/>
    <p:sldId id="321" r:id="rId21"/>
    <p:sldId id="308" r:id="rId22"/>
    <p:sldId id="276" r:id="rId23"/>
  </p:sldIdLst>
  <p:sldSz cx="9144000" cy="5143500" type="screen16x9"/>
  <p:notesSz cx="6858000" cy="9144000"/>
  <p:embeddedFontLst>
    <p:embeddedFont>
      <p:font typeface="Libre Franklin" panose="020F0502020204030204" pitchFamily="2" charset="0"/>
      <p:regular r:id="rId25"/>
      <p:bold r:id="rId26"/>
      <p:italic r:id="rId27"/>
      <p:boldItalic r:id="rId28"/>
    </p:embeddedFont>
    <p:embeddedFont>
      <p:font typeface="Raleway" panose="020B0003030101060003" pitchFamily="34" charset="0"/>
      <p:regular r:id="rId29"/>
      <p:bold r:id="rId30"/>
      <p:italic r:id="rId31"/>
      <p:boldItalic r:id="rId32"/>
    </p:embeddedFont>
    <p:embeddedFont>
      <p:font typeface="Sofia Sans" panose="020B0604020202020204" charset="0"/>
      <p:regular r:id="rId33"/>
      <p:bold r:id="rId34"/>
      <p:italic r:id="rId35"/>
      <p:boldItalic r:id="rId36"/>
    </p:embeddedFont>
    <p:embeddedFont>
      <p:font typeface="Sofia Sans SemiBold"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59A7"/>
    <a:srgbClr val="CA185C"/>
    <a:srgbClr val="002060"/>
    <a:srgbClr val="8439BD"/>
    <a:srgbClr val="6094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DE62CF-ED27-49ED-91AA-78A97479BADF}">
  <a:tblStyle styleId="{DEDE62CF-ED27-49ED-91AA-78A97479BAD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9C25EF8-A11F-48D2-BEC1-ECC6A4A001C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6" autoAdjust="0"/>
    <p:restoredTop sz="94061" autoAdjust="0"/>
  </p:normalViewPr>
  <p:slideViewPr>
    <p:cSldViewPr snapToGrid="0" showGuides="1">
      <p:cViewPr varScale="1">
        <p:scale>
          <a:sx n="89" d="100"/>
          <a:sy n="89" d="100"/>
        </p:scale>
        <p:origin x="15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s>
</file>

<file path=ppt/charts/_rels/chart1.xml.rels><?xml version="1.0" encoding="UTF-8" standalone="yes"?>
<Relationships xmlns="http://schemas.openxmlformats.org/package/2006/relationships"><Relationship Id="rId3" Type="http://schemas.openxmlformats.org/officeDocument/2006/relationships/oleObject" Target="file:///C:\Users\persian\Desktop\parnaz\OnlineRetail_Project\OnlineRetai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ersian\Desktop\parnaz\OnlineRetail_Project\OnlineRetai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ersian\Desktop\parnaz\OnlineRetail_Project\OnlineRetai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ersian\Desktop\parnaz\OnlineRetail_Project\OnlineRetai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persian\Desktop\parnaz\OnlineRetail_Project\OnlineRetail.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[OnlineRetail.xlsx]Top_5_Countries!PivotTable7</c:name>
    <c:fmtId val="20"/>
  </c:pivotSource>
  <c:chart>
    <c:title>
      <c:tx>
        <c:rich>
          <a:bodyPr rot="0" spcFirstLastPara="1" vertOverflow="ellipsis" vert="horz" wrap="square" anchor="ctr" anchorCtr="1"/>
          <a:lstStyle/>
          <a:p>
            <a:pPr>
              <a:defRPr sz="1500" b="1" i="0" u="none" strike="noStrike" kern="1200" spc="0" baseline="0">
                <a:solidFill>
                  <a:schemeClr val="tx1"/>
                </a:solidFill>
                <a:latin typeface="+mn-lt"/>
                <a:ea typeface="+mn-ea"/>
                <a:cs typeface="+mn-cs"/>
              </a:defRPr>
            </a:pPr>
            <a:r>
              <a:rPr lang="en-US" sz="1500" b="1">
                <a:solidFill>
                  <a:schemeClr val="tx1"/>
                </a:solidFill>
              </a:rPr>
              <a:t>Top</a:t>
            </a:r>
            <a:r>
              <a:rPr lang="en-US" sz="1500" b="1" baseline="0">
                <a:solidFill>
                  <a:schemeClr val="tx1"/>
                </a:solidFill>
              </a:rPr>
              <a:t> 5 Countries</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solidFill>
              <a:latin typeface="+mn-lt"/>
              <a:ea typeface="+mn-ea"/>
              <a:cs typeface="+mn-cs"/>
            </a:defRPr>
          </a:pPr>
          <a:endParaRPr lang="fa-IR"/>
        </a:p>
      </c:txPr>
    </c:title>
    <c:autoTitleDeleted val="0"/>
    <c:pivotFmts>
      <c:pivotFmt>
        <c:idx val="0"/>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D258F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pivotFmt>
      <c:pivotFmt>
        <c:idx val="10"/>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D258F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rgbClr val="D258F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Top_5_Countries!$B$3</c:f>
              <c:strCache>
                <c:ptCount val="1"/>
                <c:pt idx="0">
                  <c:v>Sum of Sales</c:v>
                </c:pt>
              </c:strCache>
            </c:strRef>
          </c:tx>
          <c:spPr>
            <a:solidFill>
              <a:srgbClr val="530768"/>
            </a:solidFill>
            <a:ln>
              <a:noFill/>
            </a:ln>
            <a:effectLst/>
          </c:spPr>
          <c:invertIfNegative val="0"/>
          <c:cat>
            <c:strRef>
              <c:f>Top_5_Countries!$A$4:$A$8</c:f>
              <c:strCache>
                <c:ptCount val="5"/>
                <c:pt idx="0">
                  <c:v>United Kingdom</c:v>
                </c:pt>
                <c:pt idx="1">
                  <c:v>Netherlands</c:v>
                </c:pt>
                <c:pt idx="2">
                  <c:v>Germany</c:v>
                </c:pt>
                <c:pt idx="3">
                  <c:v>France</c:v>
                </c:pt>
                <c:pt idx="4">
                  <c:v>EIRE</c:v>
                </c:pt>
              </c:strCache>
            </c:strRef>
          </c:cat>
          <c:val>
            <c:numRef>
              <c:f>Top_5_Countries!$B$4:$B$8</c:f>
              <c:numCache>
                <c:formatCode>"$"#,##0.00</c:formatCode>
                <c:ptCount val="5"/>
                <c:pt idx="0">
                  <c:v>8187806.364001113</c:v>
                </c:pt>
                <c:pt idx="1">
                  <c:v>284661.54000000015</c:v>
                </c:pt>
                <c:pt idx="2">
                  <c:v>221698.20999999862</c:v>
                </c:pt>
                <c:pt idx="3">
                  <c:v>197421.90000000002</c:v>
                </c:pt>
                <c:pt idx="4">
                  <c:v>263276.81999999826</c:v>
                </c:pt>
              </c:numCache>
            </c:numRef>
          </c:val>
          <c:extLst>
            <c:ext xmlns:c16="http://schemas.microsoft.com/office/drawing/2014/chart" uri="{C3380CC4-5D6E-409C-BE32-E72D297353CC}">
              <c16:uniqueId val="{00000000-636C-430D-BBAD-8CB84979AF9B}"/>
            </c:ext>
          </c:extLst>
        </c:ser>
        <c:ser>
          <c:idx val="1"/>
          <c:order val="1"/>
          <c:tx>
            <c:strRef>
              <c:f>Top_5_Countries!$C$3</c:f>
              <c:strCache>
                <c:ptCount val="1"/>
                <c:pt idx="0">
                  <c:v>Sum of Quantity</c:v>
                </c:pt>
              </c:strCache>
            </c:strRef>
          </c:tx>
          <c:spPr>
            <a:solidFill>
              <a:srgbClr val="D258F4"/>
            </a:solidFill>
            <a:ln>
              <a:noFill/>
            </a:ln>
            <a:effectLst/>
          </c:spPr>
          <c:invertIfNegative val="0"/>
          <c:cat>
            <c:strRef>
              <c:f>Top_5_Countries!$A$4:$A$8</c:f>
              <c:strCache>
                <c:ptCount val="5"/>
                <c:pt idx="0">
                  <c:v>United Kingdom</c:v>
                </c:pt>
                <c:pt idx="1">
                  <c:v>Netherlands</c:v>
                </c:pt>
                <c:pt idx="2">
                  <c:v>Germany</c:v>
                </c:pt>
                <c:pt idx="3">
                  <c:v>France</c:v>
                </c:pt>
                <c:pt idx="4">
                  <c:v>EIRE</c:v>
                </c:pt>
              </c:strCache>
            </c:strRef>
          </c:cat>
          <c:val>
            <c:numRef>
              <c:f>Top_5_Countries!$C$4:$C$8</c:f>
              <c:numCache>
                <c:formatCode>_(* #,##0_);_(* \(#,##0\);_(* "-"??_);_(@_)</c:formatCode>
                <c:ptCount val="5"/>
                <c:pt idx="0">
                  <c:v>4263829</c:v>
                </c:pt>
                <c:pt idx="1">
                  <c:v>200128</c:v>
                </c:pt>
                <c:pt idx="2">
                  <c:v>117448</c:v>
                </c:pt>
                <c:pt idx="3">
                  <c:v>110481</c:v>
                </c:pt>
                <c:pt idx="4">
                  <c:v>142637</c:v>
                </c:pt>
              </c:numCache>
            </c:numRef>
          </c:val>
          <c:extLst>
            <c:ext xmlns:c16="http://schemas.microsoft.com/office/drawing/2014/chart" uri="{C3380CC4-5D6E-409C-BE32-E72D297353CC}">
              <c16:uniqueId val="{00000001-636C-430D-BBAD-8CB84979AF9B}"/>
            </c:ext>
          </c:extLst>
        </c:ser>
        <c:dLbls>
          <c:showLegendKey val="0"/>
          <c:showVal val="0"/>
          <c:showCatName val="0"/>
          <c:showSerName val="0"/>
          <c:showPercent val="0"/>
          <c:showBubbleSize val="0"/>
        </c:dLbls>
        <c:gapWidth val="219"/>
        <c:overlap val="-27"/>
        <c:axId val="2059415072"/>
        <c:axId val="2059421312"/>
      </c:barChart>
      <c:catAx>
        <c:axId val="2059415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a-IR"/>
          </a:p>
        </c:txPr>
        <c:crossAx val="2059421312"/>
        <c:crosses val="autoZero"/>
        <c:auto val="1"/>
        <c:lblAlgn val="ctr"/>
        <c:lblOffset val="100"/>
        <c:noMultiLvlLbl val="0"/>
      </c:catAx>
      <c:valAx>
        <c:axId val="2059421312"/>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a-IR"/>
          </a:p>
        </c:txPr>
        <c:crossAx val="20594150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50" b="1" i="0" u="none" strike="noStrike" kern="1200" baseline="0">
              <a:solidFill>
                <a:schemeClr val="tx1"/>
              </a:solidFill>
              <a:latin typeface="+mn-lt"/>
              <a:ea typeface="+mn-ea"/>
              <a:cs typeface="+mn-cs"/>
            </a:defRPr>
          </a:pPr>
          <a:endParaRPr lang="fa-I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8E0F8"/>
    </a:solidFill>
    <a:ln w="9525" cap="flat" cmpd="sng" algn="ctr">
      <a:solidFill>
        <a:schemeClr val="tx1">
          <a:lumMod val="15000"/>
          <a:lumOff val="85000"/>
        </a:schemeClr>
      </a:solidFill>
      <a:round/>
    </a:ln>
    <a:effectLst/>
  </c:spPr>
  <c:txPr>
    <a:bodyPr/>
    <a:lstStyle/>
    <a:p>
      <a:pPr>
        <a:defRPr/>
      </a:pPr>
      <a:endParaRPr lang="fa-I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[OnlineRetail.xlsx]Top_5_countries(Customers)!PivotTable1</c:name>
    <c:fmtId val="31"/>
  </c:pivotSource>
  <c:chart>
    <c:title>
      <c:tx>
        <c:rich>
          <a:bodyPr rot="0" spcFirstLastPara="1" vertOverflow="ellipsis" vert="horz" wrap="square" anchor="ctr" anchorCtr="1"/>
          <a:lstStyle/>
          <a:p>
            <a:pPr>
              <a:defRPr sz="1500" b="0" i="0" u="none" strike="noStrike" kern="1200" spc="0" baseline="0">
                <a:solidFill>
                  <a:schemeClr val="tx1">
                    <a:lumMod val="95000"/>
                    <a:lumOff val="5000"/>
                  </a:schemeClr>
                </a:solidFill>
                <a:latin typeface="+mn-lt"/>
                <a:ea typeface="+mn-ea"/>
                <a:cs typeface="+mn-cs"/>
              </a:defRPr>
            </a:pPr>
            <a:r>
              <a:rPr lang="en-US" sz="1500">
                <a:solidFill>
                  <a:schemeClr val="tx1">
                    <a:lumMod val="95000"/>
                    <a:lumOff val="5000"/>
                  </a:schemeClr>
                </a:solidFill>
              </a:rPr>
              <a:t>Top</a:t>
            </a:r>
            <a:r>
              <a:rPr lang="en-US" sz="1500" baseline="0">
                <a:solidFill>
                  <a:schemeClr val="tx1">
                    <a:lumMod val="95000"/>
                    <a:lumOff val="5000"/>
                  </a:schemeClr>
                </a:solidFill>
              </a:rPr>
              <a:t> 5 Countries Per Customers</a:t>
            </a:r>
          </a:p>
        </c:rich>
      </c:tx>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95000"/>
                  <a:lumOff val="5000"/>
                </a:schemeClr>
              </a:solidFill>
              <a:latin typeface="+mn-lt"/>
              <a:ea typeface="+mn-ea"/>
              <a:cs typeface="+mn-cs"/>
            </a:defRPr>
          </a:pPr>
          <a:endParaRPr lang="fa-IR"/>
        </a:p>
      </c:txPr>
    </c:title>
    <c:autoTitleDeleted val="0"/>
    <c:pivotFmts>
      <c:pivotFmt>
        <c:idx val="0"/>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'Top_5_countries(Customers)'!$B$1</c:f>
              <c:strCache>
                <c:ptCount val="1"/>
                <c:pt idx="0">
                  <c:v>Total</c:v>
                </c:pt>
              </c:strCache>
            </c:strRef>
          </c:tx>
          <c:spPr>
            <a:solidFill>
              <a:srgbClr val="530768"/>
            </a:solidFill>
            <a:ln>
              <a:noFill/>
            </a:ln>
            <a:effectLst/>
          </c:spPr>
          <c:invertIfNegative val="0"/>
          <c:cat>
            <c:strRef>
              <c:f>'Top_5_countries(Customers)'!$A$2:$A$7</c:f>
              <c:strCache>
                <c:ptCount val="5"/>
                <c:pt idx="0">
                  <c:v>United Kingdom</c:v>
                </c:pt>
                <c:pt idx="1">
                  <c:v>Netherlands</c:v>
                </c:pt>
                <c:pt idx="2">
                  <c:v>Germany</c:v>
                </c:pt>
                <c:pt idx="3">
                  <c:v>France</c:v>
                </c:pt>
                <c:pt idx="4">
                  <c:v>EIRE</c:v>
                </c:pt>
              </c:strCache>
            </c:strRef>
          </c:cat>
          <c:val>
            <c:numRef>
              <c:f>'Top_5_countries(Customers)'!$B$2:$B$7</c:f>
              <c:numCache>
                <c:formatCode>_(* #,##0_);_(* \(#,##0\);_(* "-"??_);_(@_)</c:formatCode>
                <c:ptCount val="5"/>
                <c:pt idx="0">
                  <c:v>5626432595</c:v>
                </c:pt>
                <c:pt idx="1">
                  <c:v>34190538</c:v>
                </c:pt>
                <c:pt idx="2">
                  <c:v>120075093</c:v>
                </c:pt>
                <c:pt idx="3">
                  <c:v>107661544</c:v>
                </c:pt>
                <c:pt idx="4">
                  <c:v>110391745</c:v>
                </c:pt>
              </c:numCache>
            </c:numRef>
          </c:val>
          <c:extLst>
            <c:ext xmlns:c16="http://schemas.microsoft.com/office/drawing/2014/chart" uri="{C3380CC4-5D6E-409C-BE32-E72D297353CC}">
              <c16:uniqueId val="{00000000-76F2-4F17-B03D-89F2319B195E}"/>
            </c:ext>
          </c:extLst>
        </c:ser>
        <c:dLbls>
          <c:showLegendKey val="0"/>
          <c:showVal val="0"/>
          <c:showCatName val="0"/>
          <c:showSerName val="0"/>
          <c:showPercent val="0"/>
          <c:showBubbleSize val="0"/>
        </c:dLbls>
        <c:gapWidth val="219"/>
        <c:overlap val="-27"/>
        <c:axId val="849261023"/>
        <c:axId val="849238943"/>
      </c:barChart>
      <c:catAx>
        <c:axId val="849261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50" b="1" i="0" u="none" strike="noStrike" kern="1200" baseline="0">
                <a:solidFill>
                  <a:schemeClr val="tx1">
                    <a:lumMod val="95000"/>
                    <a:lumOff val="5000"/>
                  </a:schemeClr>
                </a:solidFill>
                <a:latin typeface="+mn-lt"/>
                <a:ea typeface="+mn-ea"/>
                <a:cs typeface="+mn-cs"/>
              </a:defRPr>
            </a:pPr>
            <a:endParaRPr lang="fa-IR"/>
          </a:p>
        </c:txPr>
        <c:crossAx val="849238943"/>
        <c:crosses val="autoZero"/>
        <c:auto val="1"/>
        <c:lblAlgn val="ctr"/>
        <c:lblOffset val="100"/>
        <c:noMultiLvlLbl val="0"/>
      </c:catAx>
      <c:valAx>
        <c:axId val="849238943"/>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95000"/>
                    <a:lumOff val="5000"/>
                  </a:schemeClr>
                </a:solidFill>
                <a:latin typeface="+mn-lt"/>
                <a:ea typeface="+mn-ea"/>
                <a:cs typeface="+mn-cs"/>
              </a:defRPr>
            </a:pPr>
            <a:endParaRPr lang="fa-IR"/>
          </a:p>
        </c:txPr>
        <c:crossAx val="849261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D9F7"/>
    </a:solidFill>
    <a:ln w="9525" cap="flat" cmpd="sng" algn="ctr">
      <a:solidFill>
        <a:schemeClr val="tx1">
          <a:lumMod val="15000"/>
          <a:lumOff val="85000"/>
        </a:schemeClr>
      </a:solidFill>
      <a:round/>
    </a:ln>
    <a:effectLst/>
  </c:spPr>
  <c:txPr>
    <a:bodyPr/>
    <a:lstStyle/>
    <a:p>
      <a:pPr>
        <a:defRPr/>
      </a:pPr>
      <a:endParaRPr lang="fa-IR"/>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[OnlineRetail.xlsx]Customer_Distribution!PivotTable1</c:name>
    <c:fmtId val="17"/>
  </c:pivotSource>
  <c:chart>
    <c:autoTitleDeleted val="1"/>
    <c:pivotFmts>
      <c:pivotFmt>
        <c:idx val="0"/>
        <c:spPr>
          <a:solidFill>
            <a:schemeClr val="accent1"/>
          </a:solidFill>
          <a:ln w="19050">
            <a:solidFill>
              <a:schemeClr val="lt1"/>
            </a:solidFill>
          </a:ln>
          <a:effectLst/>
        </c:spPr>
        <c:marker>
          <c:symbol val="none"/>
        </c:marker>
        <c:dLbl>
          <c:idx val="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CA185C"/>
          </a:solidFill>
          <a:ln w="19050">
            <a:solidFill>
              <a:schemeClr val="lt1"/>
            </a:solidFill>
          </a:ln>
          <a:effectLst/>
        </c:spPr>
        <c:dLbl>
          <c:idx val="0"/>
          <c:layout>
            <c:manualLayout>
              <c:x val="-0.13048097112860899"/>
              <c:y val="9.1120224555263932E-2"/>
            </c:manualLayout>
          </c:layout>
          <c:spPr>
            <a:solidFill>
              <a:srgbClr val="E83C7E"/>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002060"/>
          </a:solidFill>
          <a:ln w="19050">
            <a:solidFill>
              <a:schemeClr val="lt1"/>
            </a:solidFill>
          </a:ln>
          <a:effectLst/>
        </c:spPr>
        <c:dLbl>
          <c:idx val="0"/>
          <c:layout>
            <c:manualLayout>
              <c:x val="-0.13048097112860899"/>
              <c:y val="9.1120224555263932E-2"/>
            </c:manualLayout>
          </c:layout>
          <c:spPr>
            <a:solidFill>
              <a:srgbClr val="9FBFFF"/>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8439BD"/>
          </a:solidFill>
          <a:ln w="19050">
            <a:solidFill>
              <a:schemeClr val="lt1"/>
            </a:solidFill>
          </a:ln>
          <a:effectLst/>
        </c:spPr>
        <c:dLbl>
          <c:idx val="0"/>
          <c:layout>
            <c:manualLayout>
              <c:x val="9.9053149606299185E-2"/>
              <c:y val="-0.13626348789734624"/>
            </c:manualLayout>
          </c:layout>
          <c:spPr>
            <a:solidFill>
              <a:srgbClr val="AE78D6"/>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0943C"/>
          </a:solidFill>
          <a:ln w="19050">
            <a:solidFill>
              <a:schemeClr val="lt1"/>
            </a:solidFill>
          </a:ln>
          <a:effectLst/>
        </c:spPr>
        <c:dLbl>
          <c:idx val="0"/>
          <c:layout>
            <c:manualLayout>
              <c:x val="0.11350328083989498"/>
              <c:y val="7.0461869349664627E-2"/>
            </c:manualLayout>
          </c:layout>
          <c:spPr>
            <a:solidFill>
              <a:srgbClr val="89C064"/>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559A7"/>
          </a:solidFill>
          <a:ln w="19050">
            <a:solidFill>
              <a:schemeClr val="lt1"/>
            </a:solidFill>
          </a:ln>
          <a:effectLst/>
        </c:spPr>
        <c:dLbl>
          <c:idx val="0"/>
          <c:layout>
            <c:manualLayout>
              <c:x val="-6.8043088363954563E-2"/>
              <c:y val="-0.14701808107319919"/>
            </c:manualLayout>
          </c:layout>
          <c:spPr>
            <a:solidFill>
              <a:srgbClr val="FAA8D1"/>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CA185C"/>
          </a:solidFill>
          <a:ln w="19050">
            <a:solidFill>
              <a:schemeClr val="lt1"/>
            </a:solidFill>
          </a:ln>
          <a:effectLst/>
        </c:spPr>
        <c:dLbl>
          <c:idx val="0"/>
          <c:layout>
            <c:manualLayout>
              <c:x val="-0.13048097112860899"/>
              <c:y val="9.1120224555263932E-2"/>
            </c:manualLayout>
          </c:layout>
          <c:spPr>
            <a:solidFill>
              <a:srgbClr val="E83C7E"/>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559A7"/>
          </a:solidFill>
          <a:ln w="19050">
            <a:solidFill>
              <a:schemeClr val="lt1"/>
            </a:solidFill>
          </a:ln>
          <a:effectLst/>
        </c:spPr>
        <c:dLbl>
          <c:idx val="0"/>
          <c:layout>
            <c:manualLayout>
              <c:x val="-6.8043088363954563E-2"/>
              <c:y val="-0.14701808107319919"/>
            </c:manualLayout>
          </c:layout>
          <c:spPr>
            <a:solidFill>
              <a:srgbClr val="FAA8D1"/>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8439BD"/>
          </a:solidFill>
          <a:ln w="19050">
            <a:solidFill>
              <a:schemeClr val="lt1"/>
            </a:solidFill>
          </a:ln>
          <a:effectLst/>
        </c:spPr>
        <c:dLbl>
          <c:idx val="0"/>
          <c:layout>
            <c:manualLayout>
              <c:x val="9.9053149606299185E-2"/>
              <c:y val="-0.13626348789734624"/>
            </c:manualLayout>
          </c:layout>
          <c:spPr>
            <a:solidFill>
              <a:srgbClr val="AE78D6"/>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60943C"/>
          </a:solidFill>
          <a:ln w="19050">
            <a:solidFill>
              <a:schemeClr val="lt1"/>
            </a:solidFill>
          </a:ln>
          <a:effectLst/>
        </c:spPr>
        <c:dLbl>
          <c:idx val="0"/>
          <c:layout>
            <c:manualLayout>
              <c:x val="0.11350328083989498"/>
              <c:y val="7.0461869349664627E-2"/>
            </c:manualLayout>
          </c:layout>
          <c:spPr>
            <a:solidFill>
              <a:srgbClr val="89C064"/>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002060"/>
          </a:solidFill>
          <a:ln w="19050">
            <a:solidFill>
              <a:schemeClr val="lt1"/>
            </a:solidFill>
          </a:ln>
          <a:effectLst/>
        </c:spPr>
        <c:dLbl>
          <c:idx val="0"/>
          <c:layout>
            <c:manualLayout>
              <c:x val="-0.13048097112860899"/>
              <c:y val="9.1120224555263932E-2"/>
            </c:manualLayout>
          </c:layout>
          <c:spPr>
            <a:solidFill>
              <a:srgbClr val="9FBFFF"/>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CA185C"/>
          </a:solidFill>
          <a:ln w="19050">
            <a:solidFill>
              <a:schemeClr val="lt1"/>
            </a:solidFill>
          </a:ln>
          <a:effectLst/>
        </c:spPr>
        <c:dLbl>
          <c:idx val="0"/>
          <c:layout>
            <c:manualLayout>
              <c:x val="-0.13048097112860899"/>
              <c:y val="9.1120224555263932E-2"/>
            </c:manualLayout>
          </c:layout>
          <c:spPr>
            <a:solidFill>
              <a:srgbClr val="E83C7E"/>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F559A7"/>
          </a:solidFill>
          <a:ln w="19050">
            <a:solidFill>
              <a:schemeClr val="lt1"/>
            </a:solidFill>
          </a:ln>
          <a:effectLst/>
        </c:spPr>
        <c:dLbl>
          <c:idx val="0"/>
          <c:layout>
            <c:manualLayout>
              <c:x val="-6.8043088363954563E-2"/>
              <c:y val="-0.14701808107319919"/>
            </c:manualLayout>
          </c:layout>
          <c:spPr>
            <a:solidFill>
              <a:srgbClr val="FAA8D1"/>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8439BD"/>
          </a:solidFill>
          <a:ln w="19050">
            <a:solidFill>
              <a:schemeClr val="lt1"/>
            </a:solidFill>
          </a:ln>
          <a:effectLst/>
        </c:spPr>
        <c:dLbl>
          <c:idx val="0"/>
          <c:layout>
            <c:manualLayout>
              <c:x val="9.9053149606299185E-2"/>
              <c:y val="-0.13626348789734624"/>
            </c:manualLayout>
          </c:layout>
          <c:spPr>
            <a:solidFill>
              <a:srgbClr val="AE78D6"/>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60943C"/>
          </a:solidFill>
          <a:ln w="19050">
            <a:solidFill>
              <a:schemeClr val="lt1"/>
            </a:solidFill>
          </a:ln>
          <a:effectLst/>
        </c:spPr>
        <c:dLbl>
          <c:idx val="0"/>
          <c:layout>
            <c:manualLayout>
              <c:x val="0.11350328083989498"/>
              <c:y val="7.0461869349664627E-2"/>
            </c:manualLayout>
          </c:layout>
          <c:spPr>
            <a:solidFill>
              <a:srgbClr val="89C064"/>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002060"/>
          </a:solidFill>
          <a:ln w="19050">
            <a:solidFill>
              <a:schemeClr val="lt1"/>
            </a:solidFill>
          </a:ln>
          <a:effectLst/>
        </c:spPr>
        <c:dLbl>
          <c:idx val="0"/>
          <c:layout>
            <c:manualLayout>
              <c:x val="-0.13048097112860899"/>
              <c:y val="9.1120224555263932E-2"/>
            </c:manualLayout>
          </c:layout>
          <c:spPr>
            <a:solidFill>
              <a:srgbClr val="9FBFFF"/>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fa-IR"/>
            </a:p>
          </c:txPr>
          <c:dLblPos val="bestFi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978312733927776"/>
          <c:y val="8.3760072460157167E-2"/>
          <c:w val="0.76043374532144448"/>
          <c:h val="0.89762657810425239"/>
        </c:manualLayout>
      </c:layout>
      <c:pieChart>
        <c:varyColors val="1"/>
        <c:ser>
          <c:idx val="0"/>
          <c:order val="0"/>
          <c:tx>
            <c:strRef>
              <c:f>Customer_Distribution!$B$1</c:f>
              <c:strCache>
                <c:ptCount val="1"/>
                <c:pt idx="0">
                  <c:v>Total</c:v>
                </c:pt>
              </c:strCache>
            </c:strRef>
          </c:tx>
          <c:dPt>
            <c:idx val="0"/>
            <c:bubble3D val="0"/>
            <c:spPr>
              <a:solidFill>
                <a:srgbClr val="CA185C"/>
              </a:solidFill>
              <a:ln w="19050">
                <a:solidFill>
                  <a:schemeClr val="lt1"/>
                </a:solidFill>
              </a:ln>
              <a:effectLst/>
            </c:spPr>
            <c:extLst>
              <c:ext xmlns:c16="http://schemas.microsoft.com/office/drawing/2014/chart" uri="{C3380CC4-5D6E-409C-BE32-E72D297353CC}">
                <c16:uniqueId val="{00000001-A3E3-4691-B585-3A5EF7E99F13}"/>
              </c:ext>
            </c:extLst>
          </c:dPt>
          <c:dPt>
            <c:idx val="1"/>
            <c:bubble3D val="0"/>
            <c:spPr>
              <a:solidFill>
                <a:srgbClr val="F559A7"/>
              </a:solidFill>
              <a:ln w="19050">
                <a:solidFill>
                  <a:schemeClr val="lt1"/>
                </a:solidFill>
              </a:ln>
              <a:effectLst/>
            </c:spPr>
            <c:extLst>
              <c:ext xmlns:c16="http://schemas.microsoft.com/office/drawing/2014/chart" uri="{C3380CC4-5D6E-409C-BE32-E72D297353CC}">
                <c16:uniqueId val="{00000003-A3E3-4691-B585-3A5EF7E99F13}"/>
              </c:ext>
            </c:extLst>
          </c:dPt>
          <c:dPt>
            <c:idx val="2"/>
            <c:bubble3D val="0"/>
            <c:spPr>
              <a:solidFill>
                <a:srgbClr val="8439BD"/>
              </a:solidFill>
              <a:ln w="19050">
                <a:solidFill>
                  <a:schemeClr val="lt1"/>
                </a:solidFill>
              </a:ln>
              <a:effectLst/>
            </c:spPr>
            <c:extLst>
              <c:ext xmlns:c16="http://schemas.microsoft.com/office/drawing/2014/chart" uri="{C3380CC4-5D6E-409C-BE32-E72D297353CC}">
                <c16:uniqueId val="{00000005-A3E3-4691-B585-3A5EF7E99F13}"/>
              </c:ext>
            </c:extLst>
          </c:dPt>
          <c:dPt>
            <c:idx val="3"/>
            <c:bubble3D val="0"/>
            <c:spPr>
              <a:solidFill>
                <a:srgbClr val="60943C"/>
              </a:solidFill>
              <a:ln w="19050">
                <a:solidFill>
                  <a:schemeClr val="lt1"/>
                </a:solidFill>
              </a:ln>
              <a:effectLst/>
            </c:spPr>
            <c:extLst>
              <c:ext xmlns:c16="http://schemas.microsoft.com/office/drawing/2014/chart" uri="{C3380CC4-5D6E-409C-BE32-E72D297353CC}">
                <c16:uniqueId val="{00000007-A3E3-4691-B585-3A5EF7E99F13}"/>
              </c:ext>
            </c:extLst>
          </c:dPt>
          <c:dPt>
            <c:idx val="4"/>
            <c:bubble3D val="0"/>
            <c:spPr>
              <a:solidFill>
                <a:srgbClr val="002060"/>
              </a:solidFill>
              <a:ln w="19050">
                <a:solidFill>
                  <a:schemeClr val="lt1"/>
                </a:solidFill>
              </a:ln>
              <a:effectLst/>
            </c:spPr>
            <c:extLst>
              <c:ext xmlns:c16="http://schemas.microsoft.com/office/drawing/2014/chart" uri="{C3380CC4-5D6E-409C-BE32-E72D297353CC}">
                <c16:uniqueId val="{00000009-A3E3-4691-B585-3A5EF7E99F13}"/>
              </c:ext>
            </c:extLst>
          </c:dPt>
          <c:cat>
            <c:strRef>
              <c:f>Customer_Distribution!$A$2:$A$7</c:f>
              <c:strCache>
                <c:ptCount val="5"/>
                <c:pt idx="0">
                  <c:v>At Risk</c:v>
                </c:pt>
                <c:pt idx="1">
                  <c:v>VIP</c:v>
                </c:pt>
                <c:pt idx="2">
                  <c:v>Active</c:v>
                </c:pt>
                <c:pt idx="3">
                  <c:v>Frequent Buyer</c:v>
                </c:pt>
                <c:pt idx="4">
                  <c:v>Regular</c:v>
                </c:pt>
              </c:strCache>
            </c:strRef>
          </c:cat>
          <c:val>
            <c:numRef>
              <c:f>Customer_Distribution!$B$2:$B$7</c:f>
              <c:numCache>
                <c:formatCode>_(* #,##0_);_(* \(#,##0\);_(* "-"??_);_(@_)</c:formatCode>
                <c:ptCount val="5"/>
                <c:pt idx="0">
                  <c:v>1422</c:v>
                </c:pt>
                <c:pt idx="1">
                  <c:v>949</c:v>
                </c:pt>
                <c:pt idx="2">
                  <c:v>778</c:v>
                </c:pt>
                <c:pt idx="3">
                  <c:v>629</c:v>
                </c:pt>
                <c:pt idx="4">
                  <c:v>539</c:v>
                </c:pt>
              </c:numCache>
            </c:numRef>
          </c:val>
          <c:extLst>
            <c:ext xmlns:c16="http://schemas.microsoft.com/office/drawing/2014/chart" uri="{C3380CC4-5D6E-409C-BE32-E72D297353CC}">
              <c16:uniqueId val="{0000000A-A3E3-4691-B585-3A5EF7E99F1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accent5"/>
          </a:solidFill>
          <a:latin typeface="+mn-lt"/>
          <a:ea typeface="+mn-ea"/>
          <a:cs typeface="+mn-cs"/>
        </a:defRPr>
      </a:pPr>
      <a:endParaRPr lang="fa-IR"/>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[OnlineRetail.xlsx]Sales_Contribution!PivotTable2</c:name>
    <c:fmtId val="13"/>
  </c:pivotSource>
  <c:chart>
    <c:title>
      <c:tx>
        <c:rich>
          <a:bodyPr rot="0" spcFirstLastPara="1" vertOverflow="ellipsis" vert="horz" wrap="square" anchor="ctr" anchorCtr="1"/>
          <a:lstStyle/>
          <a:p>
            <a:pPr>
              <a:defRPr sz="1500" b="1" i="0" u="none" strike="noStrike" kern="1200" spc="0" baseline="0">
                <a:solidFill>
                  <a:schemeClr val="tx1"/>
                </a:solidFill>
                <a:latin typeface="+mn-lt"/>
                <a:ea typeface="+mn-ea"/>
                <a:cs typeface="+mn-cs"/>
              </a:defRPr>
            </a:pPr>
            <a:r>
              <a:rPr lang="en-US" sz="1500" b="1" baseline="0">
                <a:solidFill>
                  <a:schemeClr val="tx1"/>
                </a:solidFill>
              </a:rPr>
              <a:t>Revenue Contribution By Customer Segment</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solidFill>
              <a:latin typeface="+mn-lt"/>
              <a:ea typeface="+mn-ea"/>
              <a:cs typeface="+mn-cs"/>
            </a:defRPr>
          </a:pPr>
          <a:endParaRPr lang="fa-IR"/>
        </a:p>
      </c:txPr>
    </c:title>
    <c:autoTitleDeleted val="0"/>
    <c:pivotFmts>
      <c:pivotFmt>
        <c:idx val="0"/>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53076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Sales_Contribution!$B$1</c:f>
              <c:strCache>
                <c:ptCount val="1"/>
                <c:pt idx="0">
                  <c:v>Total</c:v>
                </c:pt>
              </c:strCache>
            </c:strRef>
          </c:tx>
          <c:spPr>
            <a:solidFill>
              <a:srgbClr val="530768"/>
            </a:solidFill>
            <a:ln>
              <a:noFill/>
            </a:ln>
            <a:effectLst/>
          </c:spPr>
          <c:invertIfNegative val="0"/>
          <c:cat>
            <c:strRef>
              <c:f>Sales_Contribution!$A$2:$A$7</c:f>
              <c:strCache>
                <c:ptCount val="5"/>
                <c:pt idx="0">
                  <c:v>VIP</c:v>
                </c:pt>
                <c:pt idx="1">
                  <c:v>Frequent Buyer</c:v>
                </c:pt>
                <c:pt idx="2">
                  <c:v>At Risk</c:v>
                </c:pt>
                <c:pt idx="3">
                  <c:v>Active</c:v>
                </c:pt>
                <c:pt idx="4">
                  <c:v>Regular</c:v>
                </c:pt>
              </c:strCache>
            </c:strRef>
          </c:cat>
          <c:val>
            <c:numRef>
              <c:f>Sales_Contribution!$B$2:$B$7</c:f>
              <c:numCache>
                <c:formatCode>_("$"* #,##0_);_("$"* \(#,##0\);_("$"* "-"??_);_(@_)</c:formatCode>
                <c:ptCount val="5"/>
                <c:pt idx="0">
                  <c:v>5588046.6899999967</c:v>
                </c:pt>
                <c:pt idx="1">
                  <c:v>1268304.301</c:v>
                </c:pt>
                <c:pt idx="2">
                  <c:v>673353.43300000147</c:v>
                </c:pt>
                <c:pt idx="3">
                  <c:v>480383.28999999969</c:v>
                </c:pt>
                <c:pt idx="4">
                  <c:v>303225.2399999997</c:v>
                </c:pt>
              </c:numCache>
            </c:numRef>
          </c:val>
          <c:extLst>
            <c:ext xmlns:c16="http://schemas.microsoft.com/office/drawing/2014/chart" uri="{C3380CC4-5D6E-409C-BE32-E72D297353CC}">
              <c16:uniqueId val="{00000000-619C-4E17-B46C-FAA0B696D64F}"/>
            </c:ext>
          </c:extLst>
        </c:ser>
        <c:dLbls>
          <c:showLegendKey val="0"/>
          <c:showVal val="0"/>
          <c:showCatName val="0"/>
          <c:showSerName val="0"/>
          <c:showPercent val="0"/>
          <c:showBubbleSize val="0"/>
        </c:dLbls>
        <c:gapWidth val="150"/>
        <c:overlap val="100"/>
        <c:axId val="1563127391"/>
        <c:axId val="1563154271"/>
      </c:barChart>
      <c:catAx>
        <c:axId val="1563127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fa-IR"/>
          </a:p>
        </c:txPr>
        <c:crossAx val="1563154271"/>
        <c:crosses val="autoZero"/>
        <c:auto val="1"/>
        <c:lblAlgn val="ctr"/>
        <c:lblOffset val="100"/>
        <c:noMultiLvlLbl val="0"/>
      </c:catAx>
      <c:valAx>
        <c:axId val="1563154271"/>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fa-IR"/>
          </a:p>
        </c:txPr>
        <c:crossAx val="1563127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D9F7"/>
    </a:solidFill>
    <a:ln w="9525" cap="flat" cmpd="sng" algn="ctr">
      <a:solidFill>
        <a:schemeClr val="tx1">
          <a:lumMod val="15000"/>
          <a:lumOff val="85000"/>
        </a:schemeClr>
      </a:solidFill>
      <a:round/>
    </a:ln>
    <a:effectLst/>
  </c:spPr>
  <c:txPr>
    <a:bodyPr/>
    <a:lstStyle/>
    <a:p>
      <a:pPr>
        <a:defRPr/>
      </a:pPr>
      <a:endParaRPr lang="fa-IR"/>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[OnlineRetail.xlsx]Order_Distribution!PivotTable3</c:name>
    <c:fmtId val="12"/>
  </c:pivotSource>
  <c:chart>
    <c:title>
      <c:tx>
        <c:rich>
          <a:bodyPr rot="0" spcFirstLastPara="1" vertOverflow="ellipsis" vert="horz" wrap="square" anchor="ctr" anchorCtr="1"/>
          <a:lstStyle/>
          <a:p>
            <a:pPr>
              <a:defRPr sz="1500" b="1" i="0" u="none" strike="noStrike" kern="1200" spc="0" baseline="0">
                <a:solidFill>
                  <a:schemeClr val="tx1">
                    <a:lumMod val="95000"/>
                    <a:lumOff val="5000"/>
                  </a:schemeClr>
                </a:solidFill>
                <a:latin typeface="+mn-lt"/>
                <a:ea typeface="+mn-ea"/>
                <a:cs typeface="+mn-cs"/>
              </a:defRPr>
            </a:pPr>
            <a:r>
              <a:rPr lang="en-US" sz="1500" b="1">
                <a:solidFill>
                  <a:schemeClr val="tx1">
                    <a:lumMod val="95000"/>
                    <a:lumOff val="5000"/>
                  </a:schemeClr>
                </a:solidFill>
              </a:rPr>
              <a:t>Order</a:t>
            </a:r>
            <a:r>
              <a:rPr lang="en-US" sz="1500" b="1" baseline="0">
                <a:solidFill>
                  <a:schemeClr val="tx1">
                    <a:lumMod val="95000"/>
                    <a:lumOff val="5000"/>
                  </a:schemeClr>
                </a:solidFill>
              </a:rPr>
              <a:t> Distribution(6 AM-9 PM)</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lumMod val="95000"/>
                  <a:lumOff val="5000"/>
                </a:schemeClr>
              </a:solidFill>
              <a:latin typeface="+mn-lt"/>
              <a:ea typeface="+mn-ea"/>
              <a:cs typeface="+mn-cs"/>
            </a:defRPr>
          </a:pPr>
          <a:endParaRPr lang="fa-IR"/>
        </a:p>
      </c:txPr>
    </c:title>
    <c:autoTitleDeleted val="0"/>
    <c:pivotFmts>
      <c:pivotFmt>
        <c:idx val="0"/>
        <c:spPr>
          <a:solidFill>
            <a:schemeClr val="accent1"/>
          </a:solidFill>
          <a:ln w="28575" cap="rnd">
            <a:solidFill>
              <a:srgbClr val="530768"/>
            </a:solidFill>
            <a:round/>
          </a:ln>
          <a:effectLst/>
        </c:spPr>
        <c:marker>
          <c:symbol val="circle"/>
          <c:size val="5"/>
          <c:spPr>
            <a:solidFill>
              <a:srgbClr val="F559A7"/>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530768"/>
            </a:solidFill>
            <a:round/>
          </a:ln>
          <a:effectLst/>
        </c:spPr>
        <c:marker>
          <c:symbol val="circle"/>
          <c:size val="5"/>
          <c:spPr>
            <a:solidFill>
              <a:srgbClr val="F559A7"/>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530768"/>
            </a:solidFill>
            <a:round/>
          </a:ln>
          <a:effectLst/>
        </c:spPr>
        <c:marker>
          <c:symbol val="circle"/>
          <c:size val="5"/>
          <c:spPr>
            <a:solidFill>
              <a:srgbClr val="F559A7"/>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a-IR"/>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Order_Distribution!$B$1</c:f>
              <c:strCache>
                <c:ptCount val="1"/>
                <c:pt idx="0">
                  <c:v>Total</c:v>
                </c:pt>
              </c:strCache>
            </c:strRef>
          </c:tx>
          <c:spPr>
            <a:ln w="28575" cap="rnd">
              <a:solidFill>
                <a:srgbClr val="530768"/>
              </a:solidFill>
              <a:round/>
            </a:ln>
            <a:effectLst/>
          </c:spPr>
          <c:marker>
            <c:symbol val="circle"/>
            <c:size val="5"/>
            <c:spPr>
              <a:solidFill>
                <a:srgbClr val="F559A7"/>
              </a:solidFill>
              <a:ln w="9525">
                <a:solidFill>
                  <a:schemeClr val="accent1"/>
                </a:solidFill>
              </a:ln>
              <a:effectLst/>
            </c:spPr>
          </c:marker>
          <c:cat>
            <c:strRef>
              <c:f>Order_Distribution!$A$2:$A$6</c:f>
              <c:strCache>
                <c:ptCount val="4"/>
                <c:pt idx="0">
                  <c:v>6 AM-9 AM</c:v>
                </c:pt>
                <c:pt idx="1">
                  <c:v>10 AM-1 PM</c:v>
                </c:pt>
                <c:pt idx="2">
                  <c:v>2 PM-5 PM</c:v>
                </c:pt>
                <c:pt idx="3">
                  <c:v>6 PM-9 PM</c:v>
                </c:pt>
              </c:strCache>
            </c:strRef>
          </c:cat>
          <c:val>
            <c:numRef>
              <c:f>Order_Distribution!$B$2:$B$6</c:f>
              <c:numCache>
                <c:formatCode>_(* #,##0_);_(* \(#,##0\);_(* "-"??_);_(@_)</c:formatCode>
                <c:ptCount val="4"/>
                <c:pt idx="0">
                  <c:v>2501</c:v>
                </c:pt>
                <c:pt idx="1">
                  <c:v>13457</c:v>
                </c:pt>
                <c:pt idx="2">
                  <c:v>9363</c:v>
                </c:pt>
                <c:pt idx="3">
                  <c:v>26480</c:v>
                </c:pt>
              </c:numCache>
            </c:numRef>
          </c:val>
          <c:smooth val="0"/>
          <c:extLst>
            <c:ext xmlns:c16="http://schemas.microsoft.com/office/drawing/2014/chart" uri="{C3380CC4-5D6E-409C-BE32-E72D297353CC}">
              <c16:uniqueId val="{00000000-3D78-4A6C-ABDB-38374283B650}"/>
            </c:ext>
          </c:extLst>
        </c:ser>
        <c:dLbls>
          <c:showLegendKey val="0"/>
          <c:showVal val="0"/>
          <c:showCatName val="0"/>
          <c:showSerName val="0"/>
          <c:showPercent val="0"/>
          <c:showBubbleSize val="0"/>
        </c:dLbls>
        <c:marker val="1"/>
        <c:smooth val="0"/>
        <c:axId val="946232463"/>
        <c:axId val="946237743"/>
      </c:lineChart>
      <c:catAx>
        <c:axId val="94623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95000"/>
                    <a:lumOff val="5000"/>
                  </a:schemeClr>
                </a:solidFill>
                <a:latin typeface="+mn-lt"/>
                <a:ea typeface="+mn-ea"/>
                <a:cs typeface="+mn-cs"/>
              </a:defRPr>
            </a:pPr>
            <a:endParaRPr lang="fa-IR"/>
          </a:p>
        </c:txPr>
        <c:crossAx val="946237743"/>
        <c:crosses val="autoZero"/>
        <c:auto val="1"/>
        <c:lblAlgn val="ctr"/>
        <c:lblOffset val="100"/>
        <c:noMultiLvlLbl val="0"/>
      </c:catAx>
      <c:valAx>
        <c:axId val="946237743"/>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95000"/>
                    <a:lumOff val="5000"/>
                  </a:schemeClr>
                </a:solidFill>
                <a:latin typeface="+mn-lt"/>
                <a:ea typeface="+mn-ea"/>
                <a:cs typeface="+mn-cs"/>
              </a:defRPr>
            </a:pPr>
            <a:endParaRPr lang="fa-IR"/>
          </a:p>
        </c:txPr>
        <c:crossAx val="946232463"/>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rgbClr val="F7D9F7"/>
    </a:solidFill>
    <a:ln w="9525" cap="flat" cmpd="sng" algn="ctr">
      <a:solidFill>
        <a:schemeClr val="tx1">
          <a:lumMod val="15000"/>
          <a:lumOff val="85000"/>
        </a:schemeClr>
      </a:solidFill>
      <a:round/>
    </a:ln>
    <a:effectLst/>
  </c:spPr>
  <c:txPr>
    <a:bodyPr/>
    <a:lstStyle/>
    <a:p>
      <a:pPr>
        <a:defRPr/>
      </a:pPr>
      <a:endParaRPr lang="fa-IR"/>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87b6de8bc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87b6de8b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8661f04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8661f04b0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D7EC6C5B-B982-4069-BBEF-E229587E9640}"/>
            </a:ext>
          </a:extLst>
        </p:cNvPr>
        <p:cNvGrpSpPr/>
        <p:nvPr/>
      </p:nvGrpSpPr>
      <p:grpSpPr>
        <a:xfrm>
          <a:off x="0" y="0"/>
          <a:ext cx="0" cy="0"/>
          <a:chOff x="0" y="0"/>
          <a:chExt cx="0" cy="0"/>
        </a:xfrm>
      </p:grpSpPr>
      <p:sp>
        <p:nvSpPr>
          <p:cNvPr id="341" name="Google Shape;341;g54dda1946d_6_332:notes">
            <a:extLst>
              <a:ext uri="{FF2B5EF4-FFF2-40B4-BE49-F238E27FC236}">
                <a16:creationId xmlns:a16="http://schemas.microsoft.com/office/drawing/2014/main" id="{726839F8-8B77-5327-4310-0438C40F2D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54dda1946d_6_332:notes">
            <a:extLst>
              <a:ext uri="{FF2B5EF4-FFF2-40B4-BE49-F238E27FC236}">
                <a16:creationId xmlns:a16="http://schemas.microsoft.com/office/drawing/2014/main" id="{B83D591D-C967-E3A2-5390-B84A5F5F9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5260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BE448FC4-B54A-8F64-2258-737474AD60B2}"/>
            </a:ext>
          </a:extLst>
        </p:cNvPr>
        <p:cNvGrpSpPr/>
        <p:nvPr/>
      </p:nvGrpSpPr>
      <p:grpSpPr>
        <a:xfrm>
          <a:off x="0" y="0"/>
          <a:ext cx="0" cy="0"/>
          <a:chOff x="0" y="0"/>
          <a:chExt cx="0" cy="0"/>
        </a:xfrm>
      </p:grpSpPr>
      <p:sp>
        <p:nvSpPr>
          <p:cNvPr id="341" name="Google Shape;341;g54dda1946d_6_332:notes">
            <a:extLst>
              <a:ext uri="{FF2B5EF4-FFF2-40B4-BE49-F238E27FC236}">
                <a16:creationId xmlns:a16="http://schemas.microsoft.com/office/drawing/2014/main" id="{D53135A0-072E-2227-8A70-602BA65900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54dda1946d_6_332:notes">
            <a:extLst>
              <a:ext uri="{FF2B5EF4-FFF2-40B4-BE49-F238E27FC236}">
                <a16:creationId xmlns:a16="http://schemas.microsoft.com/office/drawing/2014/main" id="{0F9C5BEF-F3B8-3DA0-40E7-5B26D82457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5531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289f1334454_0_375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289f1334454_0_375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9625" y="-25"/>
            <a:ext cx="9188400" cy="5143500"/>
            <a:chOff x="-100" y="-9725"/>
            <a:chExt cx="9188400" cy="5143500"/>
          </a:xfrm>
        </p:grpSpPr>
        <p:cxnSp>
          <p:nvCxnSpPr>
            <p:cNvPr id="10" name="Google Shape;10;p2"/>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11" name="Google Shape;11;p2"/>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
        <p:nvSpPr>
          <p:cNvPr id="12" name="Google Shape;12;p2"/>
          <p:cNvSpPr txBox="1">
            <a:spLocks noGrp="1"/>
          </p:cNvSpPr>
          <p:nvPr>
            <p:ph type="ctrTitle"/>
          </p:nvPr>
        </p:nvSpPr>
        <p:spPr>
          <a:xfrm>
            <a:off x="3898750" y="1246575"/>
            <a:ext cx="4532100" cy="20169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4800">
                <a:latin typeface="Sofia Sans"/>
                <a:ea typeface="Sofia Sans"/>
                <a:cs typeface="Sofia Sans"/>
                <a:sym typeface="Sofia Sans"/>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3898750" y="3421125"/>
            <a:ext cx="4532100" cy="475800"/>
          </a:xfrm>
          <a:prstGeom prst="rect">
            <a:avLst/>
          </a:prstGeom>
          <a:ln w="19050"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lvl1pPr lvl="0" algn="ctr">
              <a:lnSpc>
                <a:spcPct val="8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4" name="Google Shape;14;p2"/>
          <p:cNvGrpSpPr/>
          <p:nvPr/>
        </p:nvGrpSpPr>
        <p:grpSpPr>
          <a:xfrm>
            <a:off x="1093100" y="195425"/>
            <a:ext cx="8275575" cy="4107200"/>
            <a:chOff x="1093100" y="195425"/>
            <a:chExt cx="8275575" cy="4107200"/>
          </a:xfrm>
        </p:grpSpPr>
        <p:sp>
          <p:nvSpPr>
            <p:cNvPr id="15" name="Google Shape;15;p2"/>
            <p:cNvSpPr/>
            <p:nvPr/>
          </p:nvSpPr>
          <p:spPr>
            <a:xfrm>
              <a:off x="8781875" y="3715825"/>
              <a:ext cx="586800" cy="58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6" name="Google Shape;16;p2"/>
            <p:cNvSpPr/>
            <p:nvPr/>
          </p:nvSpPr>
          <p:spPr>
            <a:xfrm>
              <a:off x="8707525" y="3127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7" name="Google Shape;17;p2"/>
            <p:cNvSpPr/>
            <p:nvPr/>
          </p:nvSpPr>
          <p:spPr>
            <a:xfrm>
              <a:off x="1093100" y="195425"/>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8" name="Google Shape;18;p2"/>
            <p:cNvSpPr/>
            <p:nvPr/>
          </p:nvSpPr>
          <p:spPr>
            <a:xfrm>
              <a:off x="8858125" y="2571750"/>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573225" y="2218913"/>
            <a:ext cx="3857700" cy="1626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5764825" y="1297988"/>
            <a:ext cx="1474500" cy="8418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2" name="Google Shape;22;p3"/>
          <p:cNvGrpSpPr/>
          <p:nvPr/>
        </p:nvGrpSpPr>
        <p:grpSpPr>
          <a:xfrm>
            <a:off x="7814275" y="386450"/>
            <a:ext cx="855450" cy="4590600"/>
            <a:chOff x="7814275" y="386450"/>
            <a:chExt cx="855450" cy="4590600"/>
          </a:xfrm>
        </p:grpSpPr>
        <p:sp>
          <p:nvSpPr>
            <p:cNvPr id="23" name="Google Shape;23;p3"/>
            <p:cNvSpPr/>
            <p:nvPr/>
          </p:nvSpPr>
          <p:spPr>
            <a:xfrm>
              <a:off x="7814275" y="475025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4" name="Google Shape;24;p3"/>
            <p:cNvSpPr/>
            <p:nvPr/>
          </p:nvSpPr>
          <p:spPr>
            <a:xfrm>
              <a:off x="8518225" y="432117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5" name="Google Shape;25;p3"/>
            <p:cNvSpPr/>
            <p:nvPr/>
          </p:nvSpPr>
          <p:spPr>
            <a:xfrm>
              <a:off x="8166250" y="386450"/>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6" name="Google Shape;26;p3"/>
            <p:cNvSpPr/>
            <p:nvPr/>
          </p:nvSpPr>
          <p:spPr>
            <a:xfrm>
              <a:off x="8518225" y="109220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27" name="Google Shape;27;p3"/>
          <p:cNvGrpSpPr/>
          <p:nvPr/>
        </p:nvGrpSpPr>
        <p:grpSpPr>
          <a:xfrm rot="10800000">
            <a:off x="-100" y="-9725"/>
            <a:ext cx="9188400" cy="5143500"/>
            <a:chOff x="-100" y="-9725"/>
            <a:chExt cx="9188400" cy="5143500"/>
          </a:xfrm>
        </p:grpSpPr>
        <p:cxnSp>
          <p:nvCxnSpPr>
            <p:cNvPr id="28" name="Google Shape;28;p3"/>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29" name="Google Shape;29;p3"/>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2" name="Google Shape;42;p5"/>
          <p:cNvSpPr txBox="1">
            <a:spLocks noGrp="1"/>
          </p:cNvSpPr>
          <p:nvPr>
            <p:ph type="subTitle" idx="1"/>
          </p:nvPr>
        </p:nvSpPr>
        <p:spPr>
          <a:xfrm>
            <a:off x="1342075" y="3255050"/>
            <a:ext cx="3012600" cy="121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 name="Google Shape;43;p5"/>
          <p:cNvSpPr txBox="1">
            <a:spLocks noGrp="1"/>
          </p:cNvSpPr>
          <p:nvPr>
            <p:ph type="subTitle" idx="2"/>
          </p:nvPr>
        </p:nvSpPr>
        <p:spPr>
          <a:xfrm>
            <a:off x="1342075" y="1592327"/>
            <a:ext cx="3012600" cy="121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 name="Google Shape;44;p5"/>
          <p:cNvSpPr txBox="1">
            <a:spLocks noGrp="1"/>
          </p:cNvSpPr>
          <p:nvPr>
            <p:ph type="subTitle" idx="3"/>
          </p:nvPr>
        </p:nvSpPr>
        <p:spPr>
          <a:xfrm>
            <a:off x="1342076" y="1222988"/>
            <a:ext cx="3012600" cy="440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5" name="Google Shape;45;p5"/>
          <p:cNvSpPr txBox="1">
            <a:spLocks noGrp="1"/>
          </p:cNvSpPr>
          <p:nvPr>
            <p:ph type="subTitle" idx="4"/>
          </p:nvPr>
        </p:nvSpPr>
        <p:spPr>
          <a:xfrm>
            <a:off x="1342076" y="2886309"/>
            <a:ext cx="3012600" cy="440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46" name="Google Shape;46;p5"/>
          <p:cNvGrpSpPr/>
          <p:nvPr/>
        </p:nvGrpSpPr>
        <p:grpSpPr>
          <a:xfrm>
            <a:off x="-100" y="-9725"/>
            <a:ext cx="9188400" cy="5143500"/>
            <a:chOff x="-100" y="-9725"/>
            <a:chExt cx="9188400" cy="5143500"/>
          </a:xfrm>
        </p:grpSpPr>
        <p:cxnSp>
          <p:nvCxnSpPr>
            <p:cNvPr id="47" name="Google Shape;47;p5"/>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48" name="Google Shape;48;p5"/>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grpSp>
        <p:nvGrpSpPr>
          <p:cNvPr id="49" name="Google Shape;49;p5"/>
          <p:cNvGrpSpPr/>
          <p:nvPr/>
        </p:nvGrpSpPr>
        <p:grpSpPr>
          <a:xfrm>
            <a:off x="462875" y="198225"/>
            <a:ext cx="8973075" cy="3528450"/>
            <a:chOff x="462875" y="198225"/>
            <a:chExt cx="8973075" cy="3528450"/>
          </a:xfrm>
        </p:grpSpPr>
        <p:sp>
          <p:nvSpPr>
            <p:cNvPr id="50" name="Google Shape;50;p5"/>
            <p:cNvSpPr/>
            <p:nvPr/>
          </p:nvSpPr>
          <p:spPr>
            <a:xfrm rot="10800000">
              <a:off x="8784375" y="19822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1" name="Google Shape;51;p5"/>
            <p:cNvSpPr/>
            <p:nvPr/>
          </p:nvSpPr>
          <p:spPr>
            <a:xfrm rot="10800000">
              <a:off x="8849150" y="1076900"/>
              <a:ext cx="586800" cy="58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2" name="Google Shape;52;p5"/>
            <p:cNvSpPr/>
            <p:nvPr/>
          </p:nvSpPr>
          <p:spPr>
            <a:xfrm rot="10800000">
              <a:off x="462875" y="3648675"/>
              <a:ext cx="78300" cy="78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5" name="Google Shape;55;p6"/>
          <p:cNvGrpSpPr/>
          <p:nvPr/>
        </p:nvGrpSpPr>
        <p:grpSpPr>
          <a:xfrm rot="10800000">
            <a:off x="-100" y="-9725"/>
            <a:ext cx="9146700" cy="5143500"/>
            <a:chOff x="41600" y="-9725"/>
            <a:chExt cx="9146700" cy="5143500"/>
          </a:xfrm>
        </p:grpSpPr>
        <p:cxnSp>
          <p:nvCxnSpPr>
            <p:cNvPr id="56" name="Google Shape;56;p6"/>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57" name="Google Shape;57;p6"/>
            <p:cNvCxnSpPr/>
            <p:nvPr/>
          </p:nvCxnSpPr>
          <p:spPr>
            <a:xfrm rot="10800000">
              <a:off x="41600" y="4928275"/>
              <a:ext cx="9146700" cy="0"/>
            </a:xfrm>
            <a:prstGeom prst="straightConnector1">
              <a:avLst/>
            </a:prstGeom>
            <a:noFill/>
            <a:ln w="19050" cap="flat" cmpd="sng">
              <a:solidFill>
                <a:schemeClr val="accent2"/>
              </a:solidFill>
              <a:prstDash val="solid"/>
              <a:round/>
              <a:headEnd type="none" w="med" len="med"/>
              <a:tailEnd type="none" w="med" len="med"/>
            </a:ln>
          </p:spPr>
        </p:cxnSp>
      </p:grpSp>
      <p:sp>
        <p:nvSpPr>
          <p:cNvPr id="58" name="Google Shape;58;p6"/>
          <p:cNvSpPr/>
          <p:nvPr/>
        </p:nvSpPr>
        <p:spPr>
          <a:xfrm rot="10800000" flipH="1">
            <a:off x="-3696100" y="479700"/>
            <a:ext cx="4184100" cy="4184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nvGrpSpPr>
          <p:cNvPr id="59" name="Google Shape;59;p6"/>
          <p:cNvGrpSpPr/>
          <p:nvPr/>
        </p:nvGrpSpPr>
        <p:grpSpPr>
          <a:xfrm>
            <a:off x="236675" y="789100"/>
            <a:ext cx="8531575" cy="4725575"/>
            <a:chOff x="236675" y="789100"/>
            <a:chExt cx="8531575" cy="4725575"/>
          </a:xfrm>
        </p:grpSpPr>
        <p:grpSp>
          <p:nvGrpSpPr>
            <p:cNvPr id="60" name="Google Shape;60;p6"/>
            <p:cNvGrpSpPr/>
            <p:nvPr/>
          </p:nvGrpSpPr>
          <p:grpSpPr>
            <a:xfrm>
              <a:off x="236675" y="789100"/>
              <a:ext cx="8531575" cy="4226125"/>
              <a:chOff x="236675" y="789100"/>
              <a:chExt cx="8531575" cy="4226125"/>
            </a:xfrm>
          </p:grpSpPr>
          <p:grpSp>
            <p:nvGrpSpPr>
              <p:cNvPr id="61" name="Google Shape;61;p6"/>
              <p:cNvGrpSpPr/>
              <p:nvPr/>
            </p:nvGrpSpPr>
            <p:grpSpPr>
              <a:xfrm>
                <a:off x="236675" y="789100"/>
                <a:ext cx="6388575" cy="4226125"/>
                <a:chOff x="236675" y="789100"/>
                <a:chExt cx="6388575" cy="4226125"/>
              </a:xfrm>
            </p:grpSpPr>
            <p:sp>
              <p:nvSpPr>
                <p:cNvPr id="62" name="Google Shape;62;p6"/>
                <p:cNvSpPr/>
                <p:nvPr/>
              </p:nvSpPr>
              <p:spPr>
                <a:xfrm>
                  <a:off x="236675" y="46300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3" name="Google Shape;63;p6"/>
                <p:cNvSpPr/>
                <p:nvPr/>
              </p:nvSpPr>
              <p:spPr>
                <a:xfrm>
                  <a:off x="297650" y="7891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6"/>
                <p:cNvSpPr/>
                <p:nvPr/>
              </p:nvSpPr>
              <p:spPr>
                <a:xfrm>
                  <a:off x="6473750" y="478572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5" name="Google Shape;65;p6"/>
                <p:cNvSpPr/>
                <p:nvPr/>
              </p:nvSpPr>
              <p:spPr>
                <a:xfrm>
                  <a:off x="4024150" y="4937225"/>
                  <a:ext cx="78300" cy="78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
            <p:nvSpPr>
              <p:cNvPr id="66" name="Google Shape;66;p6"/>
              <p:cNvSpPr/>
              <p:nvPr/>
            </p:nvSpPr>
            <p:spPr>
              <a:xfrm rot="10800000">
                <a:off x="463475" y="1846000"/>
                <a:ext cx="78300" cy="78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7" name="Google Shape;67;p6"/>
              <p:cNvSpPr/>
              <p:nvPr/>
            </p:nvSpPr>
            <p:spPr>
              <a:xfrm rot="10800000">
                <a:off x="8616750" y="361197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
          <p:nvSpPr>
            <p:cNvPr id="68" name="Google Shape;68;p6"/>
            <p:cNvSpPr/>
            <p:nvPr/>
          </p:nvSpPr>
          <p:spPr>
            <a:xfrm>
              <a:off x="2129850" y="4927875"/>
              <a:ext cx="586800" cy="58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7"/>
          <p:cNvSpPr txBox="1">
            <a:spLocks noGrp="1"/>
          </p:cNvSpPr>
          <p:nvPr>
            <p:ph type="title"/>
          </p:nvPr>
        </p:nvSpPr>
        <p:spPr>
          <a:xfrm>
            <a:off x="832975" y="820375"/>
            <a:ext cx="3945300" cy="98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1" name="Google Shape;71;p7"/>
          <p:cNvSpPr txBox="1">
            <a:spLocks noGrp="1"/>
          </p:cNvSpPr>
          <p:nvPr>
            <p:ph type="subTitle" idx="1"/>
          </p:nvPr>
        </p:nvSpPr>
        <p:spPr>
          <a:xfrm>
            <a:off x="832975" y="1779100"/>
            <a:ext cx="3945300" cy="246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72" name="Google Shape;72;p7"/>
          <p:cNvSpPr>
            <a:spLocks noGrp="1"/>
          </p:cNvSpPr>
          <p:nvPr>
            <p:ph type="pic" idx="2"/>
          </p:nvPr>
        </p:nvSpPr>
        <p:spPr>
          <a:xfrm>
            <a:off x="5197850" y="150"/>
            <a:ext cx="3084600" cy="5143500"/>
          </a:xfrm>
          <a:prstGeom prst="rect">
            <a:avLst/>
          </a:prstGeom>
          <a:noFill/>
          <a:ln w="19050" cap="flat" cmpd="sng">
            <a:solidFill>
              <a:schemeClr val="lt2"/>
            </a:solidFill>
            <a:prstDash val="solid"/>
            <a:round/>
            <a:headEnd type="none" w="sm" len="sm"/>
            <a:tailEnd type="none" w="sm" len="sm"/>
          </a:ln>
        </p:spPr>
      </p:sp>
      <p:grpSp>
        <p:nvGrpSpPr>
          <p:cNvPr id="73" name="Google Shape;73;p7"/>
          <p:cNvGrpSpPr/>
          <p:nvPr/>
        </p:nvGrpSpPr>
        <p:grpSpPr>
          <a:xfrm>
            <a:off x="466325" y="297350"/>
            <a:ext cx="8869225" cy="4942950"/>
            <a:chOff x="466325" y="297350"/>
            <a:chExt cx="8869225" cy="4942950"/>
          </a:xfrm>
        </p:grpSpPr>
        <p:sp>
          <p:nvSpPr>
            <p:cNvPr id="74" name="Google Shape;74;p7"/>
            <p:cNvSpPr/>
            <p:nvPr/>
          </p:nvSpPr>
          <p:spPr>
            <a:xfrm flipH="1">
              <a:off x="2733725" y="48524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75" name="Google Shape;75;p7"/>
            <p:cNvSpPr/>
            <p:nvPr/>
          </p:nvSpPr>
          <p:spPr>
            <a:xfrm flipH="1">
              <a:off x="913250" y="2973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76" name="Google Shape;76;p7"/>
            <p:cNvSpPr/>
            <p:nvPr/>
          </p:nvSpPr>
          <p:spPr>
            <a:xfrm flipH="1">
              <a:off x="466325" y="1568100"/>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77" name="Google Shape;77;p7"/>
            <p:cNvSpPr/>
            <p:nvPr/>
          </p:nvSpPr>
          <p:spPr>
            <a:xfrm flipH="1">
              <a:off x="913250" y="477530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78" name="Google Shape;78;p7"/>
            <p:cNvSpPr/>
            <p:nvPr/>
          </p:nvSpPr>
          <p:spPr>
            <a:xfrm flipH="1">
              <a:off x="8870550" y="4775300"/>
              <a:ext cx="465000" cy="465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79" name="Google Shape;79;p7"/>
          <p:cNvGrpSpPr/>
          <p:nvPr/>
        </p:nvGrpSpPr>
        <p:grpSpPr>
          <a:xfrm rot="10800000" flipH="1">
            <a:off x="-22200" y="-9725"/>
            <a:ext cx="9188400" cy="5143500"/>
            <a:chOff x="-100" y="-9725"/>
            <a:chExt cx="9188400" cy="5143500"/>
          </a:xfrm>
        </p:grpSpPr>
        <p:cxnSp>
          <p:nvCxnSpPr>
            <p:cNvPr id="80" name="Google Shape;80;p7"/>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81" name="Google Shape;81;p7"/>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2"/>
        <p:cNvGrpSpPr/>
        <p:nvPr/>
      </p:nvGrpSpPr>
      <p:grpSpPr>
        <a:xfrm>
          <a:off x="0" y="0"/>
          <a:ext cx="0" cy="0"/>
          <a:chOff x="0" y="0"/>
          <a:chExt cx="0" cy="0"/>
        </a:xfrm>
      </p:grpSpPr>
      <p:sp>
        <p:nvSpPr>
          <p:cNvPr id="83" name="Google Shape;8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4" name="Google Shape;84;p8"/>
          <p:cNvGrpSpPr/>
          <p:nvPr/>
        </p:nvGrpSpPr>
        <p:grpSpPr>
          <a:xfrm>
            <a:off x="6863521" y="2951897"/>
            <a:ext cx="2316450" cy="2212375"/>
            <a:chOff x="7507625" y="2942125"/>
            <a:chExt cx="2316450" cy="2212375"/>
          </a:xfrm>
        </p:grpSpPr>
        <p:sp>
          <p:nvSpPr>
            <p:cNvPr id="85" name="Google Shape;85;p8"/>
            <p:cNvSpPr/>
            <p:nvPr/>
          </p:nvSpPr>
          <p:spPr>
            <a:xfrm flipH="1">
              <a:off x="7507625" y="49277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6" name="Google Shape;86;p8"/>
            <p:cNvSpPr/>
            <p:nvPr/>
          </p:nvSpPr>
          <p:spPr>
            <a:xfrm flipH="1">
              <a:off x="9452600" y="388477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7" name="Google Shape;87;p8"/>
            <p:cNvSpPr/>
            <p:nvPr/>
          </p:nvSpPr>
          <p:spPr>
            <a:xfrm flipH="1">
              <a:off x="8407600" y="4965350"/>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8" name="Google Shape;88;p8"/>
            <p:cNvSpPr/>
            <p:nvPr/>
          </p:nvSpPr>
          <p:spPr>
            <a:xfrm flipH="1">
              <a:off x="9551375" y="294212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9" name="Google Shape;89;p8"/>
            <p:cNvSpPr/>
            <p:nvPr/>
          </p:nvSpPr>
          <p:spPr>
            <a:xfrm flipH="1">
              <a:off x="9359075" y="4257175"/>
              <a:ext cx="465000" cy="465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90" name="Google Shape;90;p8"/>
          <p:cNvGrpSpPr/>
          <p:nvPr/>
        </p:nvGrpSpPr>
        <p:grpSpPr>
          <a:xfrm rot="10800000" flipH="1">
            <a:off x="-8429" y="-9725"/>
            <a:ext cx="9188400" cy="5153273"/>
            <a:chOff x="-100" y="-9725"/>
            <a:chExt cx="9188400" cy="5143500"/>
          </a:xfrm>
        </p:grpSpPr>
        <p:cxnSp>
          <p:nvCxnSpPr>
            <p:cNvPr id="91" name="Google Shape;91;p8"/>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92" name="Google Shape;92;p8"/>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5" name="Google Shape;9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96" name="Google Shape;96;p9"/>
          <p:cNvGrpSpPr/>
          <p:nvPr/>
        </p:nvGrpSpPr>
        <p:grpSpPr>
          <a:xfrm>
            <a:off x="-22200" y="297350"/>
            <a:ext cx="2982725" cy="4781850"/>
            <a:chOff x="-22200" y="297350"/>
            <a:chExt cx="2982725" cy="4781850"/>
          </a:xfrm>
        </p:grpSpPr>
        <p:sp>
          <p:nvSpPr>
            <p:cNvPr id="97" name="Google Shape;97;p9"/>
            <p:cNvSpPr/>
            <p:nvPr/>
          </p:nvSpPr>
          <p:spPr>
            <a:xfrm flipH="1">
              <a:off x="2733725" y="48524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8" name="Google Shape;98;p9"/>
            <p:cNvSpPr/>
            <p:nvPr/>
          </p:nvSpPr>
          <p:spPr>
            <a:xfrm flipH="1">
              <a:off x="913250" y="2973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9" name="Google Shape;99;p9"/>
            <p:cNvSpPr/>
            <p:nvPr/>
          </p:nvSpPr>
          <p:spPr>
            <a:xfrm flipH="1">
              <a:off x="466325" y="1568100"/>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00" name="Google Shape;100;p9"/>
            <p:cNvSpPr/>
            <p:nvPr/>
          </p:nvSpPr>
          <p:spPr>
            <a:xfrm flipH="1">
              <a:off x="913250" y="477530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01" name="Google Shape;101;p9"/>
            <p:cNvSpPr/>
            <p:nvPr/>
          </p:nvSpPr>
          <p:spPr>
            <a:xfrm flipH="1">
              <a:off x="-22200" y="2384525"/>
              <a:ext cx="465000" cy="465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102" name="Google Shape;102;p9"/>
          <p:cNvGrpSpPr/>
          <p:nvPr/>
        </p:nvGrpSpPr>
        <p:grpSpPr>
          <a:xfrm rot="10800000">
            <a:off x="-22200" y="-9725"/>
            <a:ext cx="9188400" cy="5143500"/>
            <a:chOff x="-100" y="-9725"/>
            <a:chExt cx="9188400" cy="5143500"/>
          </a:xfrm>
        </p:grpSpPr>
        <p:cxnSp>
          <p:nvCxnSpPr>
            <p:cNvPr id="103" name="Google Shape;103;p9"/>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104" name="Google Shape;104;p9"/>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5"/>
        <p:cNvGrpSpPr/>
        <p:nvPr/>
      </p:nvGrpSpPr>
      <p:grpSpPr>
        <a:xfrm>
          <a:off x="0" y="0"/>
          <a:ext cx="0" cy="0"/>
          <a:chOff x="0" y="0"/>
          <a:chExt cx="0" cy="0"/>
        </a:xfrm>
      </p:grpSpPr>
      <p:sp>
        <p:nvSpPr>
          <p:cNvPr id="106" name="Google Shape;106;p10"/>
          <p:cNvSpPr>
            <a:spLocks noGrp="1"/>
          </p:cNvSpPr>
          <p:nvPr>
            <p:ph type="pic" idx="2"/>
          </p:nvPr>
        </p:nvSpPr>
        <p:spPr>
          <a:xfrm>
            <a:off x="0" y="0"/>
            <a:ext cx="9144000" cy="5143500"/>
          </a:xfrm>
          <a:prstGeom prst="rect">
            <a:avLst/>
          </a:prstGeom>
          <a:noFill/>
          <a:ln>
            <a:noFill/>
          </a:ln>
        </p:spPr>
      </p:sp>
      <p:sp>
        <p:nvSpPr>
          <p:cNvPr id="107" name="Google Shape;107;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54"/>
        <p:cNvGrpSpPr/>
        <p:nvPr/>
      </p:nvGrpSpPr>
      <p:grpSpPr>
        <a:xfrm>
          <a:off x="0" y="0"/>
          <a:ext cx="0" cy="0"/>
          <a:chOff x="0" y="0"/>
          <a:chExt cx="0" cy="0"/>
        </a:xfrm>
      </p:grpSpPr>
      <p:sp>
        <p:nvSpPr>
          <p:cNvPr id="155" name="Google Shape;155;p15"/>
          <p:cNvSpPr txBox="1">
            <a:spLocks noGrp="1"/>
          </p:cNvSpPr>
          <p:nvPr>
            <p:ph type="title"/>
          </p:nvPr>
        </p:nvSpPr>
        <p:spPr>
          <a:xfrm>
            <a:off x="3810475" y="1270625"/>
            <a:ext cx="4620300" cy="567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6" name="Google Shape;156;p15"/>
          <p:cNvSpPr txBox="1">
            <a:spLocks noGrp="1"/>
          </p:cNvSpPr>
          <p:nvPr>
            <p:ph type="subTitle" idx="1"/>
          </p:nvPr>
        </p:nvSpPr>
        <p:spPr>
          <a:xfrm>
            <a:off x="3810475" y="1810075"/>
            <a:ext cx="4620300" cy="213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grpSp>
        <p:nvGrpSpPr>
          <p:cNvPr id="157" name="Google Shape;157;p15"/>
          <p:cNvGrpSpPr/>
          <p:nvPr/>
        </p:nvGrpSpPr>
        <p:grpSpPr>
          <a:xfrm>
            <a:off x="236675" y="198225"/>
            <a:ext cx="8699200" cy="3897525"/>
            <a:chOff x="236675" y="198225"/>
            <a:chExt cx="8699200" cy="3897525"/>
          </a:xfrm>
        </p:grpSpPr>
        <p:sp>
          <p:nvSpPr>
            <p:cNvPr id="158" name="Google Shape;158;p15"/>
            <p:cNvSpPr/>
            <p:nvPr/>
          </p:nvSpPr>
          <p:spPr>
            <a:xfrm rot="10800000">
              <a:off x="8784375" y="198225"/>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59" name="Google Shape;159;p15"/>
            <p:cNvSpPr/>
            <p:nvPr/>
          </p:nvSpPr>
          <p:spPr>
            <a:xfrm rot="10800000">
              <a:off x="237725" y="26994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60" name="Google Shape;160;p15"/>
            <p:cNvSpPr/>
            <p:nvPr/>
          </p:nvSpPr>
          <p:spPr>
            <a:xfrm rot="10800000">
              <a:off x="236675" y="4017750"/>
              <a:ext cx="78300" cy="78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56"/>
        <p:cNvGrpSpPr/>
        <p:nvPr/>
      </p:nvGrpSpPr>
      <p:grpSpPr>
        <a:xfrm>
          <a:off x="0" y="0"/>
          <a:ext cx="0" cy="0"/>
          <a:chOff x="0" y="0"/>
          <a:chExt cx="0" cy="0"/>
        </a:xfrm>
      </p:grpSpPr>
      <p:grpSp>
        <p:nvGrpSpPr>
          <p:cNvPr id="257" name="Google Shape;257;p22"/>
          <p:cNvGrpSpPr/>
          <p:nvPr/>
        </p:nvGrpSpPr>
        <p:grpSpPr>
          <a:xfrm flipH="1">
            <a:off x="-22200" y="3079850"/>
            <a:ext cx="1556325" cy="1999350"/>
            <a:chOff x="8267750" y="3079850"/>
            <a:chExt cx="1556325" cy="1999350"/>
          </a:xfrm>
        </p:grpSpPr>
        <p:sp>
          <p:nvSpPr>
            <p:cNvPr id="258" name="Google Shape;258;p22"/>
            <p:cNvSpPr/>
            <p:nvPr/>
          </p:nvSpPr>
          <p:spPr>
            <a:xfrm flipH="1">
              <a:off x="8267750" y="48524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59" name="Google Shape;259;p22"/>
            <p:cNvSpPr/>
            <p:nvPr/>
          </p:nvSpPr>
          <p:spPr>
            <a:xfrm flipH="1">
              <a:off x="9266675" y="48900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60" name="Google Shape;260;p22"/>
            <p:cNvSpPr/>
            <p:nvPr/>
          </p:nvSpPr>
          <p:spPr>
            <a:xfrm flipH="1">
              <a:off x="9190475" y="3635025"/>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61" name="Google Shape;261;p22"/>
            <p:cNvSpPr/>
            <p:nvPr/>
          </p:nvSpPr>
          <p:spPr>
            <a:xfrm flipH="1">
              <a:off x="9266675" y="30798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62" name="Google Shape;262;p22"/>
            <p:cNvSpPr/>
            <p:nvPr/>
          </p:nvSpPr>
          <p:spPr>
            <a:xfrm flipH="1">
              <a:off x="9359075" y="4022825"/>
              <a:ext cx="465000" cy="465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263" name="Google Shape;263;p22"/>
          <p:cNvGrpSpPr/>
          <p:nvPr/>
        </p:nvGrpSpPr>
        <p:grpSpPr>
          <a:xfrm rot="10800000">
            <a:off x="-22200" y="-9725"/>
            <a:ext cx="9188400" cy="5143500"/>
            <a:chOff x="-100" y="-9725"/>
            <a:chExt cx="9188400" cy="5143500"/>
          </a:xfrm>
        </p:grpSpPr>
        <p:cxnSp>
          <p:nvCxnSpPr>
            <p:cNvPr id="264" name="Google Shape;264;p22"/>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265" name="Google Shape;265;p22"/>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66"/>
        <p:cNvGrpSpPr/>
        <p:nvPr/>
      </p:nvGrpSpPr>
      <p:grpSpPr>
        <a:xfrm>
          <a:off x="0" y="0"/>
          <a:ext cx="0" cy="0"/>
          <a:chOff x="0" y="0"/>
          <a:chExt cx="0" cy="0"/>
        </a:xfrm>
      </p:grpSpPr>
      <p:grpSp>
        <p:nvGrpSpPr>
          <p:cNvPr id="267" name="Google Shape;267;p23"/>
          <p:cNvGrpSpPr/>
          <p:nvPr/>
        </p:nvGrpSpPr>
        <p:grpSpPr>
          <a:xfrm rot="10800000">
            <a:off x="146400" y="82500"/>
            <a:ext cx="2989125" cy="4123875"/>
            <a:chOff x="6666350" y="917675"/>
            <a:chExt cx="2989125" cy="4123875"/>
          </a:xfrm>
        </p:grpSpPr>
        <p:sp>
          <p:nvSpPr>
            <p:cNvPr id="268" name="Google Shape;268;p23"/>
            <p:cNvSpPr/>
            <p:nvPr/>
          </p:nvSpPr>
          <p:spPr>
            <a:xfrm flipH="1">
              <a:off x="9428675" y="393800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69" name="Google Shape;269;p23"/>
            <p:cNvSpPr/>
            <p:nvPr/>
          </p:nvSpPr>
          <p:spPr>
            <a:xfrm flipH="1">
              <a:off x="9266675" y="48900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70" name="Google Shape;270;p23"/>
            <p:cNvSpPr/>
            <p:nvPr/>
          </p:nvSpPr>
          <p:spPr>
            <a:xfrm flipH="1">
              <a:off x="8676125" y="4927700"/>
              <a:ext cx="76200" cy="762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71" name="Google Shape;271;p23"/>
            <p:cNvSpPr/>
            <p:nvPr/>
          </p:nvSpPr>
          <p:spPr>
            <a:xfrm flipH="1">
              <a:off x="6666350" y="47943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72" name="Google Shape;272;p23"/>
            <p:cNvSpPr/>
            <p:nvPr/>
          </p:nvSpPr>
          <p:spPr>
            <a:xfrm flipH="1">
              <a:off x="9190475" y="917675"/>
              <a:ext cx="465000" cy="4650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273" name="Google Shape;273;p23"/>
          <p:cNvGrpSpPr/>
          <p:nvPr/>
        </p:nvGrpSpPr>
        <p:grpSpPr>
          <a:xfrm flipH="1">
            <a:off x="-22200" y="-9725"/>
            <a:ext cx="9188400" cy="5153273"/>
            <a:chOff x="-100" y="-9725"/>
            <a:chExt cx="9188400" cy="5143500"/>
          </a:xfrm>
        </p:grpSpPr>
        <p:cxnSp>
          <p:nvCxnSpPr>
            <p:cNvPr id="274" name="Google Shape;274;p23"/>
            <p:cNvCxnSpPr/>
            <p:nvPr/>
          </p:nvCxnSpPr>
          <p:spPr>
            <a:xfrm>
              <a:off x="272250" y="-9725"/>
              <a:ext cx="0" cy="5143500"/>
            </a:xfrm>
            <a:prstGeom prst="straightConnector1">
              <a:avLst/>
            </a:prstGeom>
            <a:noFill/>
            <a:ln w="19050" cap="flat" cmpd="sng">
              <a:solidFill>
                <a:schemeClr val="accent2"/>
              </a:solidFill>
              <a:prstDash val="solid"/>
              <a:round/>
              <a:headEnd type="none" w="med" len="med"/>
              <a:tailEnd type="none" w="med" len="med"/>
            </a:ln>
          </p:spPr>
        </p:cxnSp>
        <p:cxnSp>
          <p:nvCxnSpPr>
            <p:cNvPr id="275" name="Google Shape;275;p23"/>
            <p:cNvCxnSpPr/>
            <p:nvPr/>
          </p:nvCxnSpPr>
          <p:spPr>
            <a:xfrm rot="10800000">
              <a:off x="-100" y="4928275"/>
              <a:ext cx="91884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1pPr>
            <a:lvl2pPr lvl="1"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2pPr>
            <a:lvl3pPr lvl="2"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3pPr>
            <a:lvl4pPr lvl="3"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4pPr>
            <a:lvl5pPr lvl="4"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5pPr>
            <a:lvl6pPr lvl="5"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6pPr>
            <a:lvl7pPr lvl="6"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7pPr>
            <a:lvl8pPr lvl="7"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8pPr>
            <a:lvl9pPr lvl="8" algn="ctr" rtl="0">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1pPr>
            <a:lvl2pPr marL="914400" lvl="1"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2pPr>
            <a:lvl3pPr marL="1371600" lvl="2"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3pPr>
            <a:lvl4pPr marL="1828800" lvl="3"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4pPr>
            <a:lvl5pPr marL="2286000" lvl="4"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5pPr>
            <a:lvl6pPr marL="2743200" lvl="5"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6pPr>
            <a:lvl7pPr marL="3200400" lvl="6"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7pPr>
            <a:lvl8pPr marL="3657600" lvl="7"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8pPr>
            <a:lvl9pPr marL="4114800" lvl="8" indent="-30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8" r:id="rId9"/>
    <p:sldLayoutId id="2147483661" r:id="rId10"/>
    <p:sldLayoutId id="2147483668" r:id="rId11"/>
    <p:sldLayoutId id="214748366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www.freepik.com/free-vector/artificial-intelligence-isometric-flowchart-with-set-glow-icons-illustrated-modern-innovative-technologies-used-quantum-computing-mobile-software_6847263.htm/?utm_source=slidesgo_template&amp;utm_medium=referral-link&amp;utm_campaign=sg_resources&amp;utm_content=freepik" TargetMode="External"/><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7"/>
          <p:cNvSpPr txBox="1">
            <a:spLocks noGrp="1"/>
          </p:cNvSpPr>
          <p:nvPr>
            <p:ph type="ctrTitle"/>
          </p:nvPr>
        </p:nvSpPr>
        <p:spPr>
          <a:xfrm>
            <a:off x="3898750" y="1169457"/>
            <a:ext cx="4532100" cy="2016900"/>
          </a:xfrm>
          <a:prstGeom prst="rect">
            <a:avLst/>
          </a:prstGeom>
        </p:spPr>
        <p:txBody>
          <a:bodyPr spcFirstLastPara="1" wrap="square" lIns="91425" tIns="91425" rIns="91425" bIns="91425" anchor="b" anchorCtr="0">
            <a:noAutofit/>
          </a:bodyPr>
          <a:lstStyle/>
          <a:p>
            <a:r>
              <a:rPr lang="en-US" altLang="ko-KR" dirty="0">
                <a:solidFill>
                  <a:schemeClr val="tx2">
                    <a:lumMod val="25000"/>
                  </a:schemeClr>
                </a:solidFill>
                <a:cs typeface="Arial" pitchFamily="34" charset="0"/>
              </a:rPr>
              <a:t>Customer Behavior &amp; Sales Analysis</a:t>
            </a:r>
            <a:endParaRPr b="1" dirty="0">
              <a:solidFill>
                <a:schemeClr val="tx2">
                  <a:lumMod val="25000"/>
                </a:schemeClr>
              </a:solidFill>
            </a:endParaRPr>
          </a:p>
        </p:txBody>
      </p:sp>
      <p:sp>
        <p:nvSpPr>
          <p:cNvPr id="287" name="Google Shape;287;p27"/>
          <p:cNvSpPr txBox="1">
            <a:spLocks noGrp="1"/>
          </p:cNvSpPr>
          <p:nvPr>
            <p:ph type="subTitle" idx="1"/>
          </p:nvPr>
        </p:nvSpPr>
        <p:spPr>
          <a:xfrm>
            <a:off x="3942012" y="3366041"/>
            <a:ext cx="4532100" cy="47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Online Retail Dataset (2010-2011)</a:t>
            </a:r>
            <a:endParaRPr dirty="0"/>
          </a:p>
        </p:txBody>
      </p:sp>
      <p:pic>
        <p:nvPicPr>
          <p:cNvPr id="288" name="Google Shape;288;p27"/>
          <p:cNvPicPr preferRelativeResize="0"/>
          <p:nvPr/>
        </p:nvPicPr>
        <p:blipFill>
          <a:blip r:embed="rId3">
            <a:alphaModFix/>
          </a:blip>
          <a:stretch>
            <a:fillRect/>
          </a:stretch>
        </p:blipFill>
        <p:spPr>
          <a:xfrm>
            <a:off x="669888" y="757212"/>
            <a:ext cx="3117649" cy="35666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9AEF8-3ABE-D450-B7B8-87E334A1FD94}"/>
              </a:ext>
            </a:extLst>
          </p:cNvPr>
          <p:cNvSpPr>
            <a:spLocks noGrp="1"/>
          </p:cNvSpPr>
          <p:nvPr>
            <p:ph type="title"/>
          </p:nvPr>
        </p:nvSpPr>
        <p:spPr>
          <a:xfrm>
            <a:off x="577170" y="216425"/>
            <a:ext cx="7989660" cy="572700"/>
          </a:xfrm>
        </p:spPr>
        <p:txBody>
          <a:bodyPr/>
          <a:lstStyle/>
          <a:p>
            <a:r>
              <a:rPr lang="en-US" sz="2800" dirty="0"/>
              <a:t>About Dataset</a:t>
            </a:r>
            <a:br>
              <a:rPr lang="en-US" sz="2400" dirty="0"/>
            </a:br>
            <a:br>
              <a:rPr lang="en-US" sz="2000" dirty="0"/>
            </a:br>
            <a:r>
              <a:rPr lang="en-US" sz="1800" dirty="0"/>
              <a:t>This dataset contains real transactional records from a UK-based e-commerce retailer specializing in giftware and home décor products. The majority of products are designed for seasonal gifting and personal presents, making the dataset highly suitable for retail and customer behavior analysis.</a:t>
            </a:r>
            <a:br>
              <a:rPr lang="en-US" sz="1800" dirty="0"/>
            </a:br>
            <a:br>
              <a:rPr lang="en-US" sz="1800" dirty="0"/>
            </a:br>
            <a:r>
              <a:rPr lang="en-US" sz="1800" dirty="0"/>
              <a:t>Although the company is based in the United Kingdom, it operates on an international scale and has customers from various regions, including Europe, Asia, and other parts of the world. This provides an opportunity to analyze both domestic and cross-border purchasing behavior.</a:t>
            </a:r>
            <a:br>
              <a:rPr lang="en-US" sz="1800" dirty="0"/>
            </a:br>
            <a:br>
              <a:rPr lang="en-US" sz="1800" dirty="0"/>
            </a:br>
            <a:r>
              <a:rPr lang="en-US" sz="1800" dirty="0"/>
              <a:t>For this project, a filtered subset of the original data has been used, covering transactions from late 2010 through the end of 2011. This period was selected to ensure consistency and focus on a complete yearly cycle of customer behavior.</a:t>
            </a:r>
            <a:endParaRPr lang="fa-IR" dirty="0"/>
          </a:p>
        </p:txBody>
      </p:sp>
    </p:spTree>
    <p:extLst>
      <p:ext uri="{BB962C8B-B14F-4D97-AF65-F5344CB8AC3E}">
        <p14:creationId xmlns:p14="http://schemas.microsoft.com/office/powerpoint/2010/main" val="2803956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a:t>
            </a:r>
            <a:r>
              <a:rPr lang="en-US" dirty="0"/>
              <a:t>Overview</a:t>
            </a:r>
            <a:endParaRPr dirty="0"/>
          </a:p>
        </p:txBody>
      </p:sp>
      <p:sp>
        <p:nvSpPr>
          <p:cNvPr id="464" name="Google Shape;464;p41"/>
          <p:cNvSpPr/>
          <p:nvPr/>
        </p:nvSpPr>
        <p:spPr>
          <a:xfrm>
            <a:off x="1499413" y="1471492"/>
            <a:ext cx="242100" cy="242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1"/>
          <p:cNvSpPr/>
          <p:nvPr/>
        </p:nvSpPr>
        <p:spPr>
          <a:xfrm>
            <a:off x="5427213" y="1471566"/>
            <a:ext cx="242100" cy="242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1"/>
          <p:cNvSpPr txBox="1"/>
          <p:nvPr/>
        </p:nvSpPr>
        <p:spPr>
          <a:xfrm flipH="1">
            <a:off x="518101" y="1834641"/>
            <a:ext cx="3187312" cy="852000"/>
          </a:xfrm>
          <a:prstGeom prst="rect">
            <a:avLst/>
          </a:prstGeom>
          <a:noFill/>
          <a:ln>
            <a:noFill/>
          </a:ln>
        </p:spPr>
        <p:txBody>
          <a:bodyPr spcFirstLastPara="1" wrap="square" lIns="91425" tIns="91425" rIns="91425" bIns="91425" anchor="t" anchorCtr="0">
            <a:noAutofit/>
          </a:bodyPr>
          <a:lstStyle/>
          <a:p>
            <a:pPr lvl="0" algn="ctr"/>
            <a:r>
              <a:rPr lang="en-US" dirty="0">
                <a:solidFill>
                  <a:srgbClr val="7030A0"/>
                </a:solidFill>
              </a:rPr>
              <a:t>Extensive data cleaning using functions and formulas to prepare the dataset for analysis and visualization</a:t>
            </a:r>
            <a:endParaRPr dirty="0">
              <a:solidFill>
                <a:srgbClr val="7030A0"/>
              </a:solidFill>
              <a:latin typeface="Libre Franklin"/>
              <a:ea typeface="Libre Franklin"/>
              <a:cs typeface="Libre Franklin"/>
              <a:sym typeface="Libre Franklin"/>
            </a:endParaRPr>
          </a:p>
        </p:txBody>
      </p:sp>
      <p:sp>
        <p:nvSpPr>
          <p:cNvPr id="470" name="Google Shape;470;p41"/>
          <p:cNvSpPr txBox="1"/>
          <p:nvPr/>
        </p:nvSpPr>
        <p:spPr>
          <a:xfrm flipH="1">
            <a:off x="4487356" y="1830691"/>
            <a:ext cx="3036181" cy="852000"/>
          </a:xfrm>
          <a:prstGeom prst="rect">
            <a:avLst/>
          </a:prstGeom>
          <a:noFill/>
          <a:ln>
            <a:noFill/>
          </a:ln>
        </p:spPr>
        <p:txBody>
          <a:bodyPr spcFirstLastPara="1" wrap="square" lIns="91425" tIns="91425" rIns="91425" bIns="91425" anchor="t" anchorCtr="0">
            <a:noAutofit/>
          </a:bodyPr>
          <a:lstStyle/>
          <a:p>
            <a:pPr lvl="0" algn="ctr"/>
            <a:r>
              <a:rPr lang="en-US" dirty="0">
                <a:solidFill>
                  <a:srgbClr val="7030A0"/>
                </a:solidFill>
              </a:rPr>
              <a:t>Key visualizations, including RFM customer segmentation, monthly sales trends, and order distribution with peak purchasing hours</a:t>
            </a:r>
            <a:endParaRPr dirty="0">
              <a:solidFill>
                <a:srgbClr val="7030A0"/>
              </a:solidFill>
              <a:latin typeface="Libre Franklin"/>
              <a:ea typeface="Libre Franklin"/>
              <a:cs typeface="Libre Franklin"/>
              <a:sym typeface="Libre Franklin"/>
            </a:endParaRPr>
          </a:p>
        </p:txBody>
      </p:sp>
      <p:cxnSp>
        <p:nvCxnSpPr>
          <p:cNvPr id="472" name="Google Shape;472;p41"/>
          <p:cNvCxnSpPr>
            <a:cxnSpLocks/>
            <a:stCxn id="464" idx="6"/>
          </p:cNvCxnSpPr>
          <p:nvPr/>
        </p:nvCxnSpPr>
        <p:spPr>
          <a:xfrm>
            <a:off x="1741513" y="1592542"/>
            <a:ext cx="1721700" cy="0"/>
          </a:xfrm>
          <a:prstGeom prst="straightConnector1">
            <a:avLst/>
          </a:prstGeom>
          <a:noFill/>
          <a:ln w="19050" cap="flat" cmpd="sng">
            <a:solidFill>
              <a:schemeClr val="accent2"/>
            </a:solidFill>
            <a:prstDash val="solid"/>
            <a:round/>
            <a:headEnd type="none" w="med" len="med"/>
            <a:tailEnd type="none" w="med" len="med"/>
          </a:ln>
        </p:spPr>
      </p:cxnSp>
      <p:cxnSp>
        <p:nvCxnSpPr>
          <p:cNvPr id="473" name="Google Shape;473;p41"/>
          <p:cNvCxnSpPr>
            <a:cxnSpLocks/>
            <a:endCxn id="466" idx="2"/>
          </p:cNvCxnSpPr>
          <p:nvPr/>
        </p:nvCxnSpPr>
        <p:spPr>
          <a:xfrm>
            <a:off x="3705413" y="1592617"/>
            <a:ext cx="1721700" cy="0"/>
          </a:xfrm>
          <a:prstGeom prst="straightConnector1">
            <a:avLst/>
          </a:prstGeom>
          <a:noFill/>
          <a:ln w="19050" cap="flat" cmpd="sng">
            <a:solidFill>
              <a:schemeClr val="accent2"/>
            </a:solidFill>
            <a:prstDash val="solid"/>
            <a:round/>
            <a:headEnd type="none" w="med" len="med"/>
            <a:tailEnd type="none" w="med" len="med"/>
          </a:ln>
        </p:spPr>
      </p:cxnSp>
      <p:cxnSp>
        <p:nvCxnSpPr>
          <p:cNvPr id="474" name="Google Shape;474;p41"/>
          <p:cNvCxnSpPr>
            <a:cxnSpLocks/>
            <a:stCxn id="466" idx="6"/>
          </p:cNvCxnSpPr>
          <p:nvPr/>
        </p:nvCxnSpPr>
        <p:spPr>
          <a:xfrm>
            <a:off x="5669313" y="1592616"/>
            <a:ext cx="1721700" cy="0"/>
          </a:xfrm>
          <a:prstGeom prst="straightConnector1">
            <a:avLst/>
          </a:prstGeom>
          <a:noFill/>
          <a:ln w="19050" cap="flat" cmpd="sng">
            <a:solidFill>
              <a:schemeClr val="accent2"/>
            </a:solidFill>
            <a:prstDash val="solid"/>
            <a:round/>
            <a:headEnd type="none" w="med" len="med"/>
            <a:tailEnd type="none" w="med" len="med"/>
          </a:ln>
        </p:spPr>
      </p:cxnSp>
      <p:cxnSp>
        <p:nvCxnSpPr>
          <p:cNvPr id="475" name="Google Shape;475;p41"/>
          <p:cNvCxnSpPr>
            <a:cxnSpLocks/>
            <a:stCxn id="464" idx="4"/>
            <a:endCxn id="468" idx="0"/>
          </p:cNvCxnSpPr>
          <p:nvPr/>
        </p:nvCxnSpPr>
        <p:spPr>
          <a:xfrm>
            <a:off x="1620463" y="1713592"/>
            <a:ext cx="491294" cy="121049"/>
          </a:xfrm>
          <a:prstGeom prst="straightConnector1">
            <a:avLst/>
          </a:prstGeom>
          <a:noFill/>
          <a:ln w="19050" cap="flat" cmpd="sng">
            <a:solidFill>
              <a:schemeClr val="accent2"/>
            </a:solidFill>
            <a:prstDash val="solid"/>
            <a:round/>
            <a:headEnd type="none" w="med" len="med"/>
            <a:tailEnd type="none" w="med" len="med"/>
          </a:ln>
        </p:spPr>
      </p:cxnSp>
      <p:cxnSp>
        <p:nvCxnSpPr>
          <p:cNvPr id="477" name="Google Shape;477;p41"/>
          <p:cNvCxnSpPr>
            <a:cxnSpLocks/>
            <a:stCxn id="466" idx="4"/>
            <a:endCxn id="470" idx="0"/>
          </p:cNvCxnSpPr>
          <p:nvPr/>
        </p:nvCxnSpPr>
        <p:spPr>
          <a:xfrm>
            <a:off x="5548263" y="1713666"/>
            <a:ext cx="457183" cy="117025"/>
          </a:xfrm>
          <a:prstGeom prst="straightConnector1">
            <a:avLst/>
          </a:prstGeom>
          <a:noFill/>
          <a:ln w="19050" cap="flat" cmpd="sng">
            <a:solidFill>
              <a:schemeClr val="accent2"/>
            </a:solidFill>
            <a:prstDash val="solid"/>
            <a:round/>
            <a:headEnd type="none" w="med" len="med"/>
            <a:tailEnd type="none" w="med" len="med"/>
          </a:ln>
        </p:spPr>
      </p:cxnSp>
      <p:sp>
        <p:nvSpPr>
          <p:cNvPr id="479" name="Google Shape;479;p41"/>
          <p:cNvSpPr/>
          <p:nvPr/>
        </p:nvSpPr>
        <p:spPr>
          <a:xfrm>
            <a:off x="1499413" y="3108730"/>
            <a:ext cx="242100" cy="242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1"/>
          <p:cNvSpPr/>
          <p:nvPr/>
        </p:nvSpPr>
        <p:spPr>
          <a:xfrm>
            <a:off x="5427213" y="3108728"/>
            <a:ext cx="242100" cy="242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1"/>
          <p:cNvSpPr txBox="1"/>
          <p:nvPr/>
        </p:nvSpPr>
        <p:spPr>
          <a:xfrm flipH="1">
            <a:off x="430656" y="3471740"/>
            <a:ext cx="3274757" cy="852000"/>
          </a:xfrm>
          <a:prstGeom prst="rect">
            <a:avLst/>
          </a:prstGeom>
          <a:noFill/>
          <a:ln>
            <a:noFill/>
          </a:ln>
        </p:spPr>
        <p:txBody>
          <a:bodyPr spcFirstLastPara="1" wrap="square" lIns="91425" tIns="91425" rIns="91425" bIns="91425" anchor="t" anchorCtr="0">
            <a:noAutofit/>
          </a:bodyPr>
          <a:lstStyle/>
          <a:p>
            <a:pPr lvl="0" algn="ctr"/>
            <a:r>
              <a:rPr lang="en-US" dirty="0">
                <a:solidFill>
                  <a:srgbClr val="7030A0"/>
                </a:solidFill>
              </a:rPr>
              <a:t>Analyzed sales contributions across customer segments and identified the top five countries by total quantity purchased and total spending</a:t>
            </a:r>
            <a:endParaRPr dirty="0">
              <a:solidFill>
                <a:srgbClr val="7030A0"/>
              </a:solidFill>
              <a:latin typeface="Libre Franklin"/>
              <a:ea typeface="Libre Franklin"/>
              <a:cs typeface="Libre Franklin"/>
              <a:sym typeface="Libre Franklin"/>
            </a:endParaRPr>
          </a:p>
        </p:txBody>
      </p:sp>
      <p:sp>
        <p:nvSpPr>
          <p:cNvPr id="485" name="Google Shape;485;p41"/>
          <p:cNvSpPr txBox="1"/>
          <p:nvPr/>
        </p:nvSpPr>
        <p:spPr>
          <a:xfrm flipH="1">
            <a:off x="4642116" y="3471740"/>
            <a:ext cx="2748897" cy="852000"/>
          </a:xfrm>
          <a:prstGeom prst="rect">
            <a:avLst/>
          </a:prstGeom>
          <a:noFill/>
          <a:ln>
            <a:noFill/>
          </a:ln>
        </p:spPr>
        <p:txBody>
          <a:bodyPr spcFirstLastPara="1" wrap="square" lIns="91425" tIns="91425" rIns="91425" bIns="91425" anchor="t" anchorCtr="0">
            <a:noAutofit/>
          </a:bodyPr>
          <a:lstStyle/>
          <a:p>
            <a:pPr lvl="0" algn="ctr"/>
            <a:r>
              <a:rPr lang="en-US" dirty="0">
                <a:solidFill>
                  <a:srgbClr val="7030A0"/>
                </a:solidFill>
              </a:rPr>
              <a:t>Evaluated product performance and highlighted the top 10 products based on financial contribution during 2010–2011</a:t>
            </a:r>
            <a:endParaRPr dirty="0">
              <a:solidFill>
                <a:srgbClr val="7030A0"/>
              </a:solidFill>
              <a:latin typeface="Libre Franklin"/>
              <a:ea typeface="Libre Franklin"/>
              <a:cs typeface="Libre Franklin"/>
              <a:sym typeface="Libre Franklin"/>
            </a:endParaRPr>
          </a:p>
        </p:txBody>
      </p:sp>
      <p:cxnSp>
        <p:nvCxnSpPr>
          <p:cNvPr id="487" name="Google Shape;487;p41"/>
          <p:cNvCxnSpPr>
            <a:cxnSpLocks/>
            <a:stCxn id="479" idx="6"/>
          </p:cNvCxnSpPr>
          <p:nvPr/>
        </p:nvCxnSpPr>
        <p:spPr>
          <a:xfrm>
            <a:off x="1741513" y="3229780"/>
            <a:ext cx="1721700" cy="0"/>
          </a:xfrm>
          <a:prstGeom prst="straightConnector1">
            <a:avLst/>
          </a:prstGeom>
          <a:noFill/>
          <a:ln w="19050" cap="flat" cmpd="sng">
            <a:solidFill>
              <a:schemeClr val="accent2"/>
            </a:solidFill>
            <a:prstDash val="solid"/>
            <a:round/>
            <a:headEnd type="none" w="med" len="med"/>
            <a:tailEnd type="none" w="med" len="med"/>
          </a:ln>
        </p:spPr>
      </p:cxnSp>
      <p:cxnSp>
        <p:nvCxnSpPr>
          <p:cNvPr id="488" name="Google Shape;488;p41"/>
          <p:cNvCxnSpPr>
            <a:cxnSpLocks/>
            <a:endCxn id="481" idx="2"/>
          </p:cNvCxnSpPr>
          <p:nvPr/>
        </p:nvCxnSpPr>
        <p:spPr>
          <a:xfrm>
            <a:off x="3705413" y="3229780"/>
            <a:ext cx="1721700" cy="0"/>
          </a:xfrm>
          <a:prstGeom prst="straightConnector1">
            <a:avLst/>
          </a:prstGeom>
          <a:noFill/>
          <a:ln w="19050" cap="flat" cmpd="sng">
            <a:solidFill>
              <a:schemeClr val="accent2"/>
            </a:solidFill>
            <a:prstDash val="solid"/>
            <a:round/>
            <a:headEnd type="none" w="med" len="med"/>
            <a:tailEnd type="none" w="med" len="med"/>
          </a:ln>
        </p:spPr>
      </p:cxnSp>
      <p:cxnSp>
        <p:nvCxnSpPr>
          <p:cNvPr id="489" name="Google Shape;489;p41"/>
          <p:cNvCxnSpPr>
            <a:cxnSpLocks/>
            <a:stCxn id="481" idx="6"/>
          </p:cNvCxnSpPr>
          <p:nvPr/>
        </p:nvCxnSpPr>
        <p:spPr>
          <a:xfrm>
            <a:off x="5669313" y="3229778"/>
            <a:ext cx="1721700" cy="0"/>
          </a:xfrm>
          <a:prstGeom prst="straightConnector1">
            <a:avLst/>
          </a:prstGeom>
          <a:noFill/>
          <a:ln w="19050" cap="flat" cmpd="sng">
            <a:solidFill>
              <a:schemeClr val="accent2"/>
            </a:solidFill>
            <a:prstDash val="solid"/>
            <a:round/>
            <a:headEnd type="none" w="med" len="med"/>
            <a:tailEnd type="none" w="med" len="med"/>
          </a:ln>
        </p:spPr>
      </p:cxnSp>
      <p:cxnSp>
        <p:nvCxnSpPr>
          <p:cNvPr id="490" name="Google Shape;490;p41"/>
          <p:cNvCxnSpPr>
            <a:cxnSpLocks/>
            <a:stCxn id="479" idx="4"/>
            <a:endCxn id="483" idx="0"/>
          </p:cNvCxnSpPr>
          <p:nvPr/>
        </p:nvCxnSpPr>
        <p:spPr>
          <a:xfrm>
            <a:off x="1620463" y="3350830"/>
            <a:ext cx="447571" cy="120910"/>
          </a:xfrm>
          <a:prstGeom prst="straightConnector1">
            <a:avLst/>
          </a:prstGeom>
          <a:noFill/>
          <a:ln w="19050" cap="flat" cmpd="sng">
            <a:solidFill>
              <a:schemeClr val="accent2"/>
            </a:solidFill>
            <a:prstDash val="solid"/>
            <a:round/>
            <a:headEnd type="none" w="med" len="med"/>
            <a:tailEnd type="none" w="med" len="med"/>
          </a:ln>
        </p:spPr>
      </p:cxnSp>
      <p:cxnSp>
        <p:nvCxnSpPr>
          <p:cNvPr id="492" name="Google Shape;492;p41"/>
          <p:cNvCxnSpPr>
            <a:cxnSpLocks/>
            <a:stCxn id="481" idx="4"/>
            <a:endCxn id="485" idx="0"/>
          </p:cNvCxnSpPr>
          <p:nvPr/>
        </p:nvCxnSpPr>
        <p:spPr>
          <a:xfrm>
            <a:off x="5548263" y="3350828"/>
            <a:ext cx="468301" cy="120912"/>
          </a:xfrm>
          <a:prstGeom prst="straightConnector1">
            <a:avLst/>
          </a:prstGeom>
          <a:noFill/>
          <a:ln w="19050" cap="flat" cmpd="sng">
            <a:solidFill>
              <a:schemeClr val="accent2"/>
            </a:solidFill>
            <a:prstDash val="solid"/>
            <a:round/>
            <a:headEnd type="none" w="med" len="med"/>
            <a:tailEnd type="none" w="med" len="med"/>
          </a:ln>
        </p:spPr>
      </p:cxnSp>
      <p:cxnSp>
        <p:nvCxnSpPr>
          <p:cNvPr id="494" name="Google Shape;494;p41"/>
          <p:cNvCxnSpPr>
            <a:cxnSpLocks/>
            <a:endCxn id="479" idx="2"/>
          </p:cNvCxnSpPr>
          <p:nvPr/>
        </p:nvCxnSpPr>
        <p:spPr>
          <a:xfrm flipH="1">
            <a:off x="1499413" y="1592617"/>
            <a:ext cx="6133800" cy="1637100"/>
          </a:xfrm>
          <a:prstGeom prst="bentConnector5">
            <a:avLst>
              <a:gd name="adj1" fmla="val -12985"/>
              <a:gd name="adj2" fmla="val 77208"/>
              <a:gd name="adj3" fmla="val 103882"/>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4" name="Google Shape;334;p31"/>
          <p:cNvSpPr txBox="1">
            <a:spLocks noGrp="1"/>
          </p:cNvSpPr>
          <p:nvPr>
            <p:ph type="title"/>
          </p:nvPr>
        </p:nvSpPr>
        <p:spPr>
          <a:xfrm>
            <a:off x="4573225" y="2218913"/>
            <a:ext cx="3857700" cy="162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Sofia Sans"/>
                <a:ea typeface="Sofia Sans"/>
                <a:cs typeface="Sofia Sans"/>
                <a:sym typeface="Sofia Sans"/>
              </a:rPr>
              <a:t>Let’s start with the first chart</a:t>
            </a:r>
            <a:endParaRPr dirty="0">
              <a:latin typeface="Sofia Sans"/>
              <a:ea typeface="Sofia Sans"/>
              <a:cs typeface="Sofia Sans"/>
              <a:sym typeface="Sofia Sans"/>
            </a:endParaRPr>
          </a:p>
        </p:txBody>
      </p:sp>
      <p:sp>
        <p:nvSpPr>
          <p:cNvPr id="335" name="Google Shape;335;p31"/>
          <p:cNvSpPr txBox="1">
            <a:spLocks noGrp="1"/>
          </p:cNvSpPr>
          <p:nvPr>
            <p:ph type="title" idx="2"/>
          </p:nvPr>
        </p:nvSpPr>
        <p:spPr>
          <a:xfrm>
            <a:off x="5764825" y="1297988"/>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pic>
        <p:nvPicPr>
          <p:cNvPr id="336" name="Google Shape;336;p31"/>
          <p:cNvPicPr preferRelativeResize="0"/>
          <p:nvPr/>
        </p:nvPicPr>
        <p:blipFill>
          <a:blip r:embed="rId3">
            <a:alphaModFix/>
          </a:blip>
          <a:stretch>
            <a:fillRect/>
          </a:stretch>
        </p:blipFill>
        <p:spPr>
          <a:xfrm>
            <a:off x="677450" y="2200486"/>
            <a:ext cx="3524400" cy="2861813"/>
          </a:xfrm>
          <a:prstGeom prst="rect">
            <a:avLst/>
          </a:prstGeom>
          <a:noFill/>
          <a:ln>
            <a:noFill/>
          </a:ln>
        </p:spPr>
      </p:pic>
      <p:grpSp>
        <p:nvGrpSpPr>
          <p:cNvPr id="337" name="Google Shape;337;p31"/>
          <p:cNvGrpSpPr/>
          <p:nvPr/>
        </p:nvGrpSpPr>
        <p:grpSpPr>
          <a:xfrm>
            <a:off x="1808250" y="703950"/>
            <a:ext cx="1272750" cy="1059825"/>
            <a:chOff x="1808250" y="703950"/>
            <a:chExt cx="1272750" cy="1059825"/>
          </a:xfrm>
        </p:grpSpPr>
        <p:sp>
          <p:nvSpPr>
            <p:cNvPr id="338" name="Google Shape;338;p31"/>
            <p:cNvSpPr/>
            <p:nvPr/>
          </p:nvSpPr>
          <p:spPr>
            <a:xfrm>
              <a:off x="1808250" y="703950"/>
              <a:ext cx="586800" cy="58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39" name="Google Shape;339;p31"/>
            <p:cNvSpPr/>
            <p:nvPr/>
          </p:nvSpPr>
          <p:spPr>
            <a:xfrm>
              <a:off x="2854200" y="1536975"/>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19361-5CA1-20B2-CFAA-78443B6E2B90}"/>
              </a:ext>
            </a:extLst>
          </p:cNvPr>
          <p:cNvSpPr>
            <a:spLocks noGrp="1"/>
          </p:cNvSpPr>
          <p:nvPr>
            <p:ph type="title"/>
          </p:nvPr>
        </p:nvSpPr>
        <p:spPr>
          <a:xfrm>
            <a:off x="637716" y="566078"/>
            <a:ext cx="7713069" cy="899165"/>
          </a:xfrm>
        </p:spPr>
        <p:txBody>
          <a:bodyPr/>
          <a:lstStyle/>
          <a:p>
            <a:pPr algn="just"/>
            <a:r>
              <a:rPr lang="en-US" sz="2000" dirty="0"/>
              <a:t>This visualization presents the top 5 countries based on total sales and quantity sold, indicating that these countries account for a substantial share of overall transactions.</a:t>
            </a:r>
            <a:endParaRPr lang="fa-IR" sz="2000" dirty="0"/>
          </a:p>
        </p:txBody>
      </p:sp>
      <p:graphicFrame>
        <p:nvGraphicFramePr>
          <p:cNvPr id="6" name="Picture Placeholder 5">
            <a:extLst>
              <a:ext uri="{FF2B5EF4-FFF2-40B4-BE49-F238E27FC236}">
                <a16:creationId xmlns:a16="http://schemas.microsoft.com/office/drawing/2014/main" id="{6893E43E-0EFC-439B-8CC0-DD0CD94C4008}"/>
              </a:ext>
            </a:extLst>
          </p:cNvPr>
          <p:cNvGraphicFramePr>
            <a:graphicFrameLocks noGrp="1"/>
          </p:cNvGraphicFramePr>
          <p:nvPr>
            <p:ph type="pic" idx="2"/>
            <p:extLst>
              <p:ext uri="{D42A27DB-BD31-4B8C-83A1-F6EECF244321}">
                <p14:modId xmlns:p14="http://schemas.microsoft.com/office/powerpoint/2010/main" val="270304159"/>
              </p:ext>
            </p:extLst>
          </p:nvPr>
        </p:nvGraphicFramePr>
        <p:xfrm>
          <a:off x="2121320" y="1465243"/>
          <a:ext cx="6229465" cy="3358652"/>
        </p:xfrm>
        <a:graphic>
          <a:graphicData uri="http://schemas.openxmlformats.org/drawingml/2006/chart">
            <c:chart xmlns:c="http://schemas.openxmlformats.org/drawingml/2006/chart" xmlns:r="http://schemas.openxmlformats.org/officeDocument/2006/relationships" r:id="rId2"/>
          </a:graphicData>
        </a:graphic>
      </p:graphicFrame>
      <p:pic>
        <p:nvPicPr>
          <p:cNvPr id="3" name="Google Shape;584;p47">
            <a:extLst>
              <a:ext uri="{FF2B5EF4-FFF2-40B4-BE49-F238E27FC236}">
                <a16:creationId xmlns:a16="http://schemas.microsoft.com/office/drawing/2014/main" id="{478B964D-F69C-A03A-0FB1-81798581F4B3}"/>
              </a:ext>
            </a:extLst>
          </p:cNvPr>
          <p:cNvPicPr preferRelativeResize="0"/>
          <p:nvPr/>
        </p:nvPicPr>
        <p:blipFill>
          <a:blip r:embed="rId3">
            <a:alphaModFix/>
          </a:blip>
          <a:stretch>
            <a:fillRect/>
          </a:stretch>
        </p:blipFill>
        <p:spPr>
          <a:xfrm>
            <a:off x="389328" y="3292798"/>
            <a:ext cx="990190" cy="1531097"/>
          </a:xfrm>
          <a:prstGeom prst="rect">
            <a:avLst/>
          </a:prstGeom>
          <a:noFill/>
          <a:ln>
            <a:noFill/>
          </a:ln>
        </p:spPr>
      </p:pic>
    </p:spTree>
    <p:extLst>
      <p:ext uri="{BB962C8B-B14F-4D97-AF65-F5344CB8AC3E}">
        <p14:creationId xmlns:p14="http://schemas.microsoft.com/office/powerpoint/2010/main" val="3629427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587;p47">
            <a:extLst>
              <a:ext uri="{FF2B5EF4-FFF2-40B4-BE49-F238E27FC236}">
                <a16:creationId xmlns:a16="http://schemas.microsoft.com/office/drawing/2014/main" id="{97C89A44-AB66-E1BD-380F-2E5A407BEAFD}"/>
              </a:ext>
            </a:extLst>
          </p:cNvPr>
          <p:cNvPicPr preferRelativeResize="0"/>
          <p:nvPr/>
        </p:nvPicPr>
        <p:blipFill>
          <a:blip r:embed="rId2">
            <a:alphaModFix/>
          </a:blip>
          <a:stretch>
            <a:fillRect/>
          </a:stretch>
        </p:blipFill>
        <p:spPr>
          <a:xfrm>
            <a:off x="7687209" y="3871933"/>
            <a:ext cx="1117684" cy="1179167"/>
          </a:xfrm>
          <a:prstGeom prst="rect">
            <a:avLst/>
          </a:prstGeom>
          <a:noFill/>
          <a:ln>
            <a:noFill/>
          </a:ln>
        </p:spPr>
      </p:pic>
      <p:sp>
        <p:nvSpPr>
          <p:cNvPr id="2" name="Title 1">
            <a:extLst>
              <a:ext uri="{FF2B5EF4-FFF2-40B4-BE49-F238E27FC236}">
                <a16:creationId xmlns:a16="http://schemas.microsoft.com/office/drawing/2014/main" id="{C3416BEC-9FC8-9DB5-6F37-7E356BF7C35F}"/>
              </a:ext>
            </a:extLst>
          </p:cNvPr>
          <p:cNvSpPr>
            <a:spLocks noGrp="1"/>
          </p:cNvSpPr>
          <p:nvPr>
            <p:ph type="title"/>
          </p:nvPr>
        </p:nvSpPr>
        <p:spPr>
          <a:xfrm>
            <a:off x="505360" y="464047"/>
            <a:ext cx="8299533" cy="4405658"/>
          </a:xfrm>
        </p:spPr>
        <p:txBody>
          <a:bodyPr/>
          <a:lstStyle/>
          <a:p>
            <a:pPr>
              <a:lnSpc>
                <a:spcPct val="90000"/>
              </a:lnSpc>
            </a:pPr>
            <a:r>
              <a:rPr lang="en-US" sz="1700" dirty="0">
                <a:latin typeface="+mj-lt"/>
              </a:rPr>
              <a:t>The bar chart clearly demonstrates that the United Kingdom accounted for the highest share of both total sales revenue and sales quantity, with a significant lead over the other top four countries. The Netherlands and Eire ranked second and third respectively, while Germany and France occupied the fourth and fifth positions.</a:t>
            </a:r>
            <a:br>
              <a:rPr lang="en-US" sz="1700" dirty="0">
                <a:latin typeface="+mj-lt"/>
              </a:rPr>
            </a:br>
            <a:r>
              <a:rPr lang="en-US" sz="1700" dirty="0">
                <a:latin typeface="+mj-lt"/>
              </a:rPr>
              <a:t>Overall, the analysis highlights the company’s strong market presence and effective sales strategies in the UK. The findings also reveal a high dependency on the UK market, which may create potential business risks in the long term. In addition, customer purchasing behavior appears to vary across countries, suggesting the need for more localized marketing strategies and region-specific business approaches.</a:t>
            </a:r>
            <a:br>
              <a:rPr lang="en-US" sz="1700" dirty="0">
                <a:latin typeface="+mj-lt"/>
              </a:rPr>
            </a:br>
            <a:br>
              <a:rPr lang="en-US" sz="1700" b="1" dirty="0">
                <a:latin typeface="+mj-lt"/>
              </a:rPr>
            </a:br>
            <a:br>
              <a:rPr lang="en-US" sz="1700" b="1" dirty="0">
                <a:latin typeface="+mj-lt"/>
              </a:rPr>
            </a:br>
            <a:r>
              <a:rPr lang="en-US" sz="1700" b="1" dirty="0">
                <a:latin typeface="+mj-lt"/>
              </a:rPr>
              <a:t>Key Business Insight:</a:t>
            </a:r>
            <a:br>
              <a:rPr lang="en-US" sz="1700" dirty="0">
                <a:latin typeface="+mj-lt"/>
              </a:rPr>
            </a:br>
            <a:r>
              <a:rPr lang="en-US" sz="1700" dirty="0">
                <a:latin typeface="+mj-lt"/>
              </a:rPr>
              <a:t>The business is highly successful in the UK market, but future growth opportunities largely depend on strengthening international market penetration and reducing reliance on a single dominant region.</a:t>
            </a:r>
            <a:br>
              <a:rPr lang="en-US" sz="1700" dirty="0">
                <a:latin typeface="+mj-lt"/>
              </a:rPr>
            </a:br>
            <a:endParaRPr lang="fa-IR" sz="1700" dirty="0">
              <a:latin typeface="+mj-lt"/>
            </a:endParaRPr>
          </a:p>
        </p:txBody>
      </p:sp>
    </p:spTree>
    <p:extLst>
      <p:ext uri="{BB962C8B-B14F-4D97-AF65-F5344CB8AC3E}">
        <p14:creationId xmlns:p14="http://schemas.microsoft.com/office/powerpoint/2010/main" val="3171931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4F8CD-8148-0016-4238-822E2783A567}"/>
              </a:ext>
            </a:extLst>
          </p:cNvPr>
          <p:cNvSpPr>
            <a:spLocks noGrp="1"/>
          </p:cNvSpPr>
          <p:nvPr>
            <p:ph type="title"/>
          </p:nvPr>
        </p:nvSpPr>
        <p:spPr>
          <a:xfrm>
            <a:off x="616082" y="2450564"/>
            <a:ext cx="7894073" cy="1344779"/>
          </a:xfrm>
        </p:spPr>
        <p:txBody>
          <a:bodyPr/>
          <a:lstStyle/>
          <a:p>
            <a:pPr algn="l"/>
            <a:r>
              <a:rPr lang="en-US" sz="1800" dirty="0">
                <a:latin typeface="+mj-lt"/>
              </a:rPr>
              <a:t>1.The marketing team should develop targeted marketing campaigns in these countries to improve brand visibility and customer engagement. </a:t>
            </a:r>
            <a:br>
              <a:rPr lang="en-US" sz="1800" dirty="0">
                <a:latin typeface="+mj-lt"/>
              </a:rPr>
            </a:br>
            <a:br>
              <a:rPr lang="en-US" sz="1800" dirty="0">
                <a:latin typeface="+mj-lt"/>
              </a:rPr>
            </a:br>
            <a:r>
              <a:rPr lang="en-US" sz="1800" dirty="0">
                <a:latin typeface="+mj-lt"/>
              </a:rPr>
              <a:t>2.The company should analyze local customer preferences and purchasing behavior more carefully. </a:t>
            </a:r>
            <a:br>
              <a:rPr lang="en-US" sz="1800" dirty="0">
                <a:latin typeface="+mj-lt"/>
              </a:rPr>
            </a:br>
            <a:br>
              <a:rPr lang="en-US" sz="1800" dirty="0">
                <a:latin typeface="+mj-lt"/>
              </a:rPr>
            </a:br>
            <a:r>
              <a:rPr lang="en-US" sz="1800" dirty="0">
                <a:latin typeface="+mj-lt"/>
              </a:rPr>
              <a:t>3.Offering products tailored to local market demands may help attract more international customers and strengthen global sales performance. </a:t>
            </a:r>
            <a:br>
              <a:rPr lang="en-US" sz="1800" dirty="0">
                <a:latin typeface="+mj-lt"/>
              </a:rPr>
            </a:br>
            <a:br>
              <a:rPr lang="en-US" sz="1800" dirty="0">
                <a:latin typeface="+mj-lt"/>
              </a:rPr>
            </a:br>
            <a:r>
              <a:rPr lang="en-US" sz="1800" dirty="0">
                <a:latin typeface="+mj-lt"/>
              </a:rPr>
              <a:t>4.Expanding international operations could diversify revenue streams and reduce market concentration risk. </a:t>
            </a:r>
            <a:br>
              <a:rPr lang="en-US" sz="1800" dirty="0">
                <a:latin typeface="+mj-lt"/>
              </a:rPr>
            </a:br>
            <a:endParaRPr lang="fa-IR" sz="1800" dirty="0">
              <a:latin typeface="+mj-lt"/>
            </a:endParaRPr>
          </a:p>
        </p:txBody>
      </p:sp>
      <p:sp>
        <p:nvSpPr>
          <p:cNvPr id="3" name="Subtitle 2">
            <a:extLst>
              <a:ext uri="{FF2B5EF4-FFF2-40B4-BE49-F238E27FC236}">
                <a16:creationId xmlns:a16="http://schemas.microsoft.com/office/drawing/2014/main" id="{0CF511E4-F358-5230-CB7B-73B1428A3720}"/>
              </a:ext>
            </a:extLst>
          </p:cNvPr>
          <p:cNvSpPr>
            <a:spLocks noGrp="1"/>
          </p:cNvSpPr>
          <p:nvPr>
            <p:ph type="subTitle" idx="1"/>
          </p:nvPr>
        </p:nvSpPr>
        <p:spPr>
          <a:xfrm>
            <a:off x="-411070" y="575553"/>
            <a:ext cx="4872900" cy="671100"/>
          </a:xfrm>
        </p:spPr>
        <p:txBody>
          <a:bodyPr/>
          <a:lstStyle/>
          <a:p>
            <a:r>
              <a:rPr lang="en-US" sz="2400" b="1" dirty="0"/>
              <a:t>Recommendations:</a:t>
            </a:r>
            <a:endParaRPr lang="fa-IR" sz="2400" b="1" dirty="0"/>
          </a:p>
        </p:txBody>
      </p:sp>
    </p:spTree>
    <p:extLst>
      <p:ext uri="{BB962C8B-B14F-4D97-AF65-F5344CB8AC3E}">
        <p14:creationId xmlns:p14="http://schemas.microsoft.com/office/powerpoint/2010/main" val="182077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41C7-536F-6B6C-062E-EA00C52DBE8B}"/>
              </a:ext>
            </a:extLst>
          </p:cNvPr>
          <p:cNvSpPr>
            <a:spLocks noGrp="1"/>
          </p:cNvSpPr>
          <p:nvPr>
            <p:ph type="title"/>
          </p:nvPr>
        </p:nvSpPr>
        <p:spPr>
          <a:xfrm>
            <a:off x="521147" y="466926"/>
            <a:ext cx="8101706" cy="987300"/>
          </a:xfrm>
        </p:spPr>
        <p:txBody>
          <a:bodyPr/>
          <a:lstStyle/>
          <a:p>
            <a:r>
              <a:rPr lang="en-US" sz="2100" dirty="0"/>
              <a:t>This bar chart illustrates the top five countries based on the number of customers they attracted.</a:t>
            </a:r>
            <a:endParaRPr lang="fa-IR" sz="2100" dirty="0"/>
          </a:p>
        </p:txBody>
      </p:sp>
      <p:graphicFrame>
        <p:nvGraphicFramePr>
          <p:cNvPr id="5" name="Picture Placeholder 4">
            <a:extLst>
              <a:ext uri="{FF2B5EF4-FFF2-40B4-BE49-F238E27FC236}">
                <a16:creationId xmlns:a16="http://schemas.microsoft.com/office/drawing/2014/main" id="{B873E27C-71F9-FE69-FAD4-68AA0FFFD344}"/>
              </a:ext>
            </a:extLst>
          </p:cNvPr>
          <p:cNvGraphicFramePr>
            <a:graphicFrameLocks noGrp="1"/>
          </p:cNvGraphicFramePr>
          <p:nvPr>
            <p:ph type="pic" idx="2"/>
            <p:extLst>
              <p:ext uri="{D42A27DB-BD31-4B8C-83A1-F6EECF244321}">
                <p14:modId xmlns:p14="http://schemas.microsoft.com/office/powerpoint/2010/main" val="2781010753"/>
              </p:ext>
            </p:extLst>
          </p:nvPr>
        </p:nvGraphicFramePr>
        <p:xfrm>
          <a:off x="3084721" y="1553378"/>
          <a:ext cx="5210980" cy="2913874"/>
        </p:xfrm>
        <a:graphic>
          <a:graphicData uri="http://schemas.openxmlformats.org/drawingml/2006/chart">
            <c:chart xmlns:c="http://schemas.openxmlformats.org/drawingml/2006/chart" xmlns:r="http://schemas.openxmlformats.org/officeDocument/2006/relationships" r:id="rId2"/>
          </a:graphicData>
        </a:graphic>
      </p:graphicFrame>
      <p:pic>
        <p:nvPicPr>
          <p:cNvPr id="3" name="Google Shape;585;p47">
            <a:extLst>
              <a:ext uri="{FF2B5EF4-FFF2-40B4-BE49-F238E27FC236}">
                <a16:creationId xmlns:a16="http://schemas.microsoft.com/office/drawing/2014/main" id="{8D598F21-795C-6F15-4FA4-8C0207C54560}"/>
              </a:ext>
            </a:extLst>
          </p:cNvPr>
          <p:cNvPicPr preferRelativeResize="0"/>
          <p:nvPr/>
        </p:nvPicPr>
        <p:blipFill>
          <a:blip r:embed="rId3">
            <a:alphaModFix/>
          </a:blip>
          <a:stretch>
            <a:fillRect/>
          </a:stretch>
        </p:blipFill>
        <p:spPr>
          <a:xfrm>
            <a:off x="521147" y="3497411"/>
            <a:ext cx="1204758" cy="1179163"/>
          </a:xfrm>
          <a:prstGeom prst="rect">
            <a:avLst/>
          </a:prstGeom>
          <a:noFill/>
          <a:ln>
            <a:noFill/>
          </a:ln>
        </p:spPr>
      </p:pic>
    </p:spTree>
    <p:extLst>
      <p:ext uri="{BB962C8B-B14F-4D97-AF65-F5344CB8AC3E}">
        <p14:creationId xmlns:p14="http://schemas.microsoft.com/office/powerpoint/2010/main" val="1000476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589;p47">
            <a:extLst>
              <a:ext uri="{FF2B5EF4-FFF2-40B4-BE49-F238E27FC236}">
                <a16:creationId xmlns:a16="http://schemas.microsoft.com/office/drawing/2014/main" id="{8EE43AA6-91CE-69B7-A57D-C807CE39FED1}"/>
              </a:ext>
            </a:extLst>
          </p:cNvPr>
          <p:cNvPicPr preferRelativeResize="0"/>
          <p:nvPr/>
        </p:nvPicPr>
        <p:blipFill>
          <a:blip r:embed="rId2">
            <a:alphaModFix/>
          </a:blip>
          <a:stretch>
            <a:fillRect/>
          </a:stretch>
        </p:blipFill>
        <p:spPr>
          <a:xfrm>
            <a:off x="7000201" y="3836400"/>
            <a:ext cx="1745126" cy="1289209"/>
          </a:xfrm>
          <a:prstGeom prst="rect">
            <a:avLst/>
          </a:prstGeom>
          <a:noFill/>
          <a:ln>
            <a:noFill/>
          </a:ln>
        </p:spPr>
      </p:pic>
      <p:sp>
        <p:nvSpPr>
          <p:cNvPr id="2" name="Title 1">
            <a:extLst>
              <a:ext uri="{FF2B5EF4-FFF2-40B4-BE49-F238E27FC236}">
                <a16:creationId xmlns:a16="http://schemas.microsoft.com/office/drawing/2014/main" id="{CCC8C561-1103-B7A8-8277-3BCAD82DE3DA}"/>
              </a:ext>
            </a:extLst>
          </p:cNvPr>
          <p:cNvSpPr>
            <a:spLocks noGrp="1"/>
          </p:cNvSpPr>
          <p:nvPr>
            <p:ph type="title"/>
          </p:nvPr>
        </p:nvSpPr>
        <p:spPr>
          <a:xfrm>
            <a:off x="398672" y="1483746"/>
            <a:ext cx="8346655" cy="2529300"/>
          </a:xfrm>
        </p:spPr>
        <p:txBody>
          <a:bodyPr/>
          <a:lstStyle/>
          <a:p>
            <a:pPr>
              <a:lnSpc>
                <a:spcPct val="90000"/>
              </a:lnSpc>
            </a:pPr>
            <a:r>
              <a:rPr lang="en-US" sz="1700" dirty="0">
                <a:latin typeface="+mj-lt"/>
              </a:rPr>
              <a:t>This graph follows a similar trend to the previous bar chart. It is clearly evident that the United Kingdom attracted the highest number of customers, with a significant difference compared to the other countries.</a:t>
            </a:r>
            <a:br>
              <a:rPr lang="en-US" sz="1700" dirty="0">
                <a:latin typeface="+mj-lt"/>
              </a:rPr>
            </a:br>
            <a:br>
              <a:rPr lang="en-US" sz="1700" dirty="0">
                <a:latin typeface="+mj-lt"/>
              </a:rPr>
            </a:br>
            <a:r>
              <a:rPr lang="en-US" sz="1700" dirty="0">
                <a:latin typeface="+mj-lt"/>
              </a:rPr>
              <a:t>One notable finding, however, is that although the Netherlands ranked second in terms of both sales quantity and total revenue, it had the lowest number of customers among the top five countries by a considerable margin. This suggests that customers in the Netherlands tend to purchase larger quantities of products and spend higher amounts per transaction.</a:t>
            </a:r>
            <a:br>
              <a:rPr lang="en-US" sz="1700" dirty="0">
                <a:latin typeface="+mj-lt"/>
              </a:rPr>
            </a:br>
            <a:br>
              <a:rPr lang="en-US" sz="1700" dirty="0">
                <a:latin typeface="+mj-lt"/>
              </a:rPr>
            </a:br>
            <a:r>
              <a:rPr lang="en-US" sz="1700" dirty="0">
                <a:latin typeface="+mj-lt"/>
              </a:rPr>
              <a:t>On the other hand, Germany, France, and Eire showed relatively similar customer counts, which aligns closely with their sales quantity and revenue </a:t>
            </a:r>
            <a:br>
              <a:rPr lang="en-US" sz="1700" dirty="0">
                <a:latin typeface="+mj-lt"/>
              </a:rPr>
            </a:br>
            <a:r>
              <a:rPr lang="en-US" sz="1700" dirty="0">
                <a:latin typeface="+mj-lt"/>
              </a:rPr>
              <a:t>performance.</a:t>
            </a:r>
            <a:br>
              <a:rPr lang="en-US" sz="1700" dirty="0">
                <a:latin typeface="+mj-lt"/>
              </a:rPr>
            </a:br>
            <a:br>
              <a:rPr lang="en-US" sz="1700" dirty="0">
                <a:latin typeface="+mj-lt"/>
              </a:rPr>
            </a:br>
            <a:r>
              <a:rPr lang="en-US" sz="1700" dirty="0">
                <a:latin typeface="+mj-lt"/>
              </a:rPr>
              <a:t>Overall, customer count alone does not define market strength; customer value and purchasing behavior provide a more accurate picture of market performance.</a:t>
            </a:r>
            <a:br>
              <a:rPr lang="en-US" sz="1700" dirty="0">
                <a:latin typeface="+mj-lt"/>
              </a:rPr>
            </a:br>
            <a:endParaRPr lang="fa-IR" sz="1700" dirty="0">
              <a:latin typeface="+mj-lt"/>
            </a:endParaRPr>
          </a:p>
        </p:txBody>
      </p:sp>
    </p:spTree>
    <p:extLst>
      <p:ext uri="{BB962C8B-B14F-4D97-AF65-F5344CB8AC3E}">
        <p14:creationId xmlns:p14="http://schemas.microsoft.com/office/powerpoint/2010/main" val="2685383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0"/>
          <p:cNvSpPr/>
          <p:nvPr/>
        </p:nvSpPr>
        <p:spPr>
          <a:xfrm>
            <a:off x="5496375" y="3231375"/>
            <a:ext cx="4184100" cy="4184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5" name="Google Shape;325;p30"/>
          <p:cNvSpPr txBox="1">
            <a:spLocks noGrp="1"/>
          </p:cNvSpPr>
          <p:nvPr>
            <p:ph type="title"/>
          </p:nvPr>
        </p:nvSpPr>
        <p:spPr>
          <a:xfrm>
            <a:off x="573201" y="352784"/>
            <a:ext cx="4081275" cy="76943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a:t>Recommendations:</a:t>
            </a:r>
            <a:endParaRPr b="1" dirty="0"/>
          </a:p>
        </p:txBody>
      </p:sp>
      <p:sp>
        <p:nvSpPr>
          <p:cNvPr id="326" name="Google Shape;326;p30"/>
          <p:cNvSpPr txBox="1">
            <a:spLocks noGrp="1"/>
          </p:cNvSpPr>
          <p:nvPr>
            <p:ph type="subTitle" idx="1"/>
          </p:nvPr>
        </p:nvSpPr>
        <p:spPr>
          <a:xfrm>
            <a:off x="490946" y="1217989"/>
            <a:ext cx="4435217" cy="2468101"/>
          </a:xfrm>
          <a:prstGeom prst="rect">
            <a:avLst/>
          </a:prstGeom>
        </p:spPr>
        <p:txBody>
          <a:bodyPr spcFirstLastPara="1" wrap="square" lIns="91425" tIns="91425" rIns="91425" bIns="91425" anchor="t" anchorCtr="0">
            <a:noAutofit/>
          </a:bodyPr>
          <a:lstStyle/>
          <a:p>
            <a:pPr marL="228600" lvl="0" indent="-228600">
              <a:buSzPts val="1100"/>
            </a:pPr>
            <a:r>
              <a:rPr lang="en-US" sz="1350" dirty="0"/>
              <a:t>The company should focus on increasing customer acquisition in countries such as France, Germany, and Eire through targeted marketing campaigns.</a:t>
            </a:r>
            <a:br>
              <a:rPr lang="en-US" sz="1350" dirty="0"/>
            </a:br>
            <a:endParaRPr lang="en-US" sz="1350" dirty="0"/>
          </a:p>
          <a:p>
            <a:pPr marL="228600" lvl="0" indent="-228600">
              <a:buSzPts val="1100"/>
            </a:pPr>
            <a:r>
              <a:rPr lang="en-US" sz="1350" dirty="0"/>
              <a:t> Strengthening customer retention strategies in the UK, such as loyalty programs and personalized recommendations, can help maintain stable revenue. </a:t>
            </a:r>
            <a:br>
              <a:rPr lang="en-US" sz="1350" dirty="0"/>
            </a:br>
            <a:endParaRPr lang="en-US" sz="1350" dirty="0"/>
          </a:p>
          <a:p>
            <a:pPr marL="228600" lvl="0" indent="-228600">
              <a:buSzPts val="1100"/>
            </a:pPr>
            <a:r>
              <a:rPr lang="en-US" sz="1350" dirty="0"/>
              <a:t>A region-specific marketing approach should be adopted, as customer behavior varies significantly across different countries. </a:t>
            </a:r>
            <a:br>
              <a:rPr lang="en-US" sz="1350" dirty="0"/>
            </a:br>
            <a:endParaRPr lang="en-US" sz="1350" dirty="0"/>
          </a:p>
          <a:p>
            <a:pPr marL="228600" lvl="0" indent="-228600">
              <a:buSzPts val="1100"/>
            </a:pPr>
            <a:r>
              <a:rPr lang="en-US" sz="1350" dirty="0"/>
              <a:t>4. Reducing dependency on the UK market by expanding the customer base internationally will improve long-term business stability. </a:t>
            </a:r>
            <a:br>
              <a:rPr lang="fa-IR" sz="1350" dirty="0"/>
            </a:br>
            <a:endParaRPr sz="1350" dirty="0"/>
          </a:p>
        </p:txBody>
      </p:sp>
      <p:pic>
        <p:nvPicPr>
          <p:cNvPr id="327" name="Google Shape;327;p30"/>
          <p:cNvPicPr preferRelativeResize="0">
            <a:picLocks noGrp="1"/>
          </p:cNvPicPr>
          <p:nvPr>
            <p:ph type="pic" idx="2"/>
          </p:nvPr>
        </p:nvPicPr>
        <p:blipFill rotWithShape="1">
          <a:blip r:embed="rId3">
            <a:alphaModFix/>
          </a:blip>
          <a:srcRect l="26421" r="33601"/>
          <a:stretch/>
        </p:blipFill>
        <p:spPr>
          <a:xfrm>
            <a:off x="5197850" y="150"/>
            <a:ext cx="3084600" cy="5143500"/>
          </a:xfrm>
          <a:prstGeom prst="rect">
            <a:avLst/>
          </a:prstGeom>
        </p:spPr>
      </p:pic>
      <p:sp>
        <p:nvSpPr>
          <p:cNvPr id="328" name="Google Shape;328;p30"/>
          <p:cNvSpPr/>
          <p:nvPr/>
        </p:nvSpPr>
        <p:spPr>
          <a:xfrm flipH="1">
            <a:off x="7979250" y="4247200"/>
            <a:ext cx="586800" cy="58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sz="3200" b="1" dirty="0">
                <a:solidFill>
                  <a:schemeClr val="tx1">
                    <a:lumMod val="95000"/>
                    <a:lumOff val="5000"/>
                  </a:schemeClr>
                </a:solidFill>
              </a:rPr>
              <a:t>Customer Distribution By RFM Segment</a:t>
            </a:r>
            <a:br>
              <a:rPr lang="en-US" sz="3200" b="1" dirty="0">
                <a:solidFill>
                  <a:schemeClr val="tx1">
                    <a:lumMod val="95000"/>
                    <a:lumOff val="5000"/>
                  </a:schemeClr>
                </a:solidFill>
              </a:rPr>
            </a:br>
            <a:endParaRPr dirty="0"/>
          </a:p>
        </p:txBody>
      </p:sp>
      <p:sp>
        <p:nvSpPr>
          <p:cNvPr id="520" name="Google Shape;520;p44"/>
          <p:cNvSpPr txBox="1">
            <a:spLocks noGrp="1"/>
          </p:cNvSpPr>
          <p:nvPr>
            <p:ph type="title" idx="4294967295"/>
          </p:nvPr>
        </p:nvSpPr>
        <p:spPr>
          <a:xfrm>
            <a:off x="1178625" y="1901305"/>
            <a:ext cx="1279800" cy="358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t>Regular</a:t>
            </a:r>
            <a:endParaRPr sz="1800" dirty="0"/>
          </a:p>
        </p:txBody>
      </p:sp>
      <p:sp>
        <p:nvSpPr>
          <p:cNvPr id="521" name="Google Shape;521;p44"/>
          <p:cNvSpPr/>
          <p:nvPr/>
        </p:nvSpPr>
        <p:spPr>
          <a:xfrm>
            <a:off x="2600131" y="1539527"/>
            <a:ext cx="274200" cy="275100"/>
          </a:xfrm>
          <a:prstGeom prst="ellipse">
            <a:avLst/>
          </a:prstGeom>
          <a:solidFill>
            <a:srgbClr val="002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4"/>
          <p:cNvSpPr txBox="1">
            <a:spLocks noGrp="1"/>
          </p:cNvSpPr>
          <p:nvPr>
            <p:ph type="title" idx="4294967295"/>
          </p:nvPr>
        </p:nvSpPr>
        <p:spPr>
          <a:xfrm>
            <a:off x="1178625" y="2987773"/>
            <a:ext cx="1706215" cy="358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t>Frequent Buyer</a:t>
            </a:r>
            <a:endParaRPr sz="1800" dirty="0"/>
          </a:p>
        </p:txBody>
      </p:sp>
      <p:sp>
        <p:nvSpPr>
          <p:cNvPr id="524" name="Google Shape;524;p44"/>
          <p:cNvSpPr/>
          <p:nvPr/>
        </p:nvSpPr>
        <p:spPr>
          <a:xfrm>
            <a:off x="2610640" y="2467493"/>
            <a:ext cx="274200" cy="275100"/>
          </a:xfrm>
          <a:prstGeom prst="ellipse">
            <a:avLst/>
          </a:prstGeom>
          <a:solidFill>
            <a:srgbClr val="609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40000"/>
                  <a:lumOff val="60000"/>
                </a:schemeClr>
              </a:solidFill>
            </a:endParaRPr>
          </a:p>
        </p:txBody>
      </p:sp>
      <p:sp>
        <p:nvSpPr>
          <p:cNvPr id="525" name="Google Shape;525;p44"/>
          <p:cNvSpPr txBox="1">
            <a:spLocks noGrp="1"/>
          </p:cNvSpPr>
          <p:nvPr>
            <p:ph type="title" idx="4294967295"/>
          </p:nvPr>
        </p:nvSpPr>
        <p:spPr>
          <a:xfrm>
            <a:off x="1167804" y="4098506"/>
            <a:ext cx="1279800" cy="358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t>Active</a:t>
            </a:r>
            <a:endParaRPr sz="1800" dirty="0"/>
          </a:p>
        </p:txBody>
      </p:sp>
      <p:sp>
        <p:nvSpPr>
          <p:cNvPr id="526" name="Google Shape;526;p44"/>
          <p:cNvSpPr/>
          <p:nvPr/>
        </p:nvSpPr>
        <p:spPr>
          <a:xfrm>
            <a:off x="6254108" y="2913989"/>
            <a:ext cx="274200" cy="275100"/>
          </a:xfrm>
          <a:prstGeom prst="ellipse">
            <a:avLst/>
          </a:prstGeom>
          <a:solidFill>
            <a:srgbClr val="F559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4"/>
          <p:cNvSpPr txBox="1">
            <a:spLocks noGrp="1"/>
          </p:cNvSpPr>
          <p:nvPr>
            <p:ph type="title" idx="4294967295"/>
          </p:nvPr>
        </p:nvSpPr>
        <p:spPr>
          <a:xfrm>
            <a:off x="6764682" y="2270220"/>
            <a:ext cx="1279800" cy="35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t>At risk</a:t>
            </a:r>
            <a:endParaRPr sz="1800" dirty="0"/>
          </a:p>
        </p:txBody>
      </p:sp>
      <p:sp>
        <p:nvSpPr>
          <p:cNvPr id="528" name="Google Shape;528;p44"/>
          <p:cNvSpPr/>
          <p:nvPr/>
        </p:nvSpPr>
        <p:spPr>
          <a:xfrm>
            <a:off x="2615538" y="3571639"/>
            <a:ext cx="274200" cy="275100"/>
          </a:xfrm>
          <a:prstGeom prst="ellipse">
            <a:avLst/>
          </a:prstGeom>
          <a:solidFill>
            <a:srgbClr val="8439BD"/>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4"/>
          <p:cNvSpPr txBox="1">
            <a:spLocks noGrp="1"/>
          </p:cNvSpPr>
          <p:nvPr>
            <p:ph type="title" idx="4294967295"/>
          </p:nvPr>
        </p:nvSpPr>
        <p:spPr>
          <a:xfrm>
            <a:off x="6903151" y="3355945"/>
            <a:ext cx="1279800" cy="35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t>VIP</a:t>
            </a:r>
            <a:endParaRPr sz="1800" dirty="0"/>
          </a:p>
        </p:txBody>
      </p:sp>
      <p:sp>
        <p:nvSpPr>
          <p:cNvPr id="530" name="Google Shape;530;p44"/>
          <p:cNvSpPr/>
          <p:nvPr/>
        </p:nvSpPr>
        <p:spPr>
          <a:xfrm>
            <a:off x="6244627" y="1911735"/>
            <a:ext cx="274200" cy="275100"/>
          </a:xfrm>
          <a:prstGeom prst="ellipse">
            <a:avLst/>
          </a:prstGeom>
          <a:solidFill>
            <a:srgbClr val="CA185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75000"/>
                </a:schemeClr>
              </a:solidFill>
            </a:endParaRPr>
          </a:p>
        </p:txBody>
      </p:sp>
      <p:sp>
        <p:nvSpPr>
          <p:cNvPr id="532" name="Google Shape;532;p44"/>
          <p:cNvSpPr txBox="1">
            <a:spLocks noGrp="1"/>
          </p:cNvSpPr>
          <p:nvPr>
            <p:ph type="title" idx="4294967295"/>
          </p:nvPr>
        </p:nvSpPr>
        <p:spPr>
          <a:xfrm>
            <a:off x="1601002" y="1251230"/>
            <a:ext cx="857293" cy="550191"/>
          </a:xfrm>
          <a:prstGeom prst="rect">
            <a:avLst/>
          </a:prstGeom>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t>539</a:t>
            </a:r>
            <a:endParaRPr sz="2400" dirty="0"/>
          </a:p>
        </p:txBody>
      </p:sp>
      <p:sp>
        <p:nvSpPr>
          <p:cNvPr id="533" name="Google Shape;533;p44"/>
          <p:cNvSpPr txBox="1">
            <a:spLocks noGrp="1"/>
          </p:cNvSpPr>
          <p:nvPr>
            <p:ph type="title" idx="4294967295"/>
          </p:nvPr>
        </p:nvSpPr>
        <p:spPr>
          <a:xfrm>
            <a:off x="1600949" y="2366370"/>
            <a:ext cx="857400" cy="525300"/>
          </a:xfrm>
          <a:prstGeom prst="rect">
            <a:avLst/>
          </a:prstGeom>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t>629</a:t>
            </a:r>
            <a:endParaRPr sz="2400" dirty="0"/>
          </a:p>
        </p:txBody>
      </p:sp>
      <p:sp>
        <p:nvSpPr>
          <p:cNvPr id="534" name="Google Shape;534;p44"/>
          <p:cNvSpPr txBox="1">
            <a:spLocks noGrp="1"/>
          </p:cNvSpPr>
          <p:nvPr>
            <p:ph type="title" idx="4294967295"/>
          </p:nvPr>
        </p:nvSpPr>
        <p:spPr>
          <a:xfrm>
            <a:off x="1600949" y="3458046"/>
            <a:ext cx="857400" cy="525300"/>
          </a:xfrm>
          <a:prstGeom prst="rect">
            <a:avLst/>
          </a:prstGeom>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t>778</a:t>
            </a:r>
            <a:endParaRPr sz="2400" dirty="0"/>
          </a:p>
        </p:txBody>
      </p:sp>
      <p:sp>
        <p:nvSpPr>
          <p:cNvPr id="535" name="Google Shape;535;p44"/>
          <p:cNvSpPr txBox="1">
            <a:spLocks noGrp="1"/>
          </p:cNvSpPr>
          <p:nvPr>
            <p:ph type="title" idx="4294967295"/>
          </p:nvPr>
        </p:nvSpPr>
        <p:spPr>
          <a:xfrm>
            <a:off x="6685421" y="1755960"/>
            <a:ext cx="961066" cy="525300"/>
          </a:xfrm>
          <a:prstGeom prst="rect">
            <a:avLst/>
          </a:prstGeom>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t>1,422</a:t>
            </a:r>
            <a:endParaRPr sz="2400" dirty="0"/>
          </a:p>
        </p:txBody>
      </p:sp>
      <p:sp>
        <p:nvSpPr>
          <p:cNvPr id="536" name="Google Shape;536;p44"/>
          <p:cNvSpPr txBox="1">
            <a:spLocks noGrp="1"/>
          </p:cNvSpPr>
          <p:nvPr>
            <p:ph type="title" idx="4294967295"/>
          </p:nvPr>
        </p:nvSpPr>
        <p:spPr>
          <a:xfrm>
            <a:off x="6685651" y="2725123"/>
            <a:ext cx="857400" cy="525300"/>
          </a:xfrm>
          <a:prstGeom prst="rect">
            <a:avLst/>
          </a:prstGeom>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t>949</a:t>
            </a:r>
            <a:endParaRPr sz="2400" dirty="0"/>
          </a:p>
        </p:txBody>
      </p:sp>
      <p:graphicFrame>
        <p:nvGraphicFramePr>
          <p:cNvPr id="2" name="Chart 1">
            <a:extLst>
              <a:ext uri="{FF2B5EF4-FFF2-40B4-BE49-F238E27FC236}">
                <a16:creationId xmlns:a16="http://schemas.microsoft.com/office/drawing/2014/main" id="{11725889-4ADC-80E4-C7B5-91B2E119F00F}"/>
              </a:ext>
            </a:extLst>
          </p:cNvPr>
          <p:cNvGraphicFramePr>
            <a:graphicFrameLocks/>
          </p:cNvGraphicFramePr>
          <p:nvPr>
            <p:extLst>
              <p:ext uri="{D42A27DB-BD31-4B8C-83A1-F6EECF244321}">
                <p14:modId xmlns:p14="http://schemas.microsoft.com/office/powerpoint/2010/main" val="1400031366"/>
              </p:ext>
            </p:extLst>
          </p:nvPr>
        </p:nvGraphicFramePr>
        <p:xfrm>
          <a:off x="2968999" y="1251230"/>
          <a:ext cx="3221614" cy="2729224"/>
        </p:xfrm>
        <a:graphic>
          <a:graphicData uri="http://schemas.openxmlformats.org/drawingml/2006/chart">
            <c:chart xmlns:c="http://schemas.openxmlformats.org/drawingml/2006/chart" xmlns:r="http://schemas.openxmlformats.org/officeDocument/2006/relationships" r:id="rId3"/>
          </a:graphicData>
        </a:graphic>
      </p:graphicFrame>
      <p:pic>
        <p:nvPicPr>
          <p:cNvPr id="3" name="Google Shape;584;p47">
            <a:extLst>
              <a:ext uri="{FF2B5EF4-FFF2-40B4-BE49-F238E27FC236}">
                <a16:creationId xmlns:a16="http://schemas.microsoft.com/office/drawing/2014/main" id="{4859C843-040D-8609-16DB-D34810FE79CF}"/>
              </a:ext>
            </a:extLst>
          </p:cNvPr>
          <p:cNvPicPr preferRelativeResize="0"/>
          <p:nvPr/>
        </p:nvPicPr>
        <p:blipFill>
          <a:blip r:embed="rId4">
            <a:alphaModFix/>
          </a:blip>
          <a:stretch>
            <a:fillRect/>
          </a:stretch>
        </p:blipFill>
        <p:spPr>
          <a:xfrm>
            <a:off x="7701038" y="3512357"/>
            <a:ext cx="990190" cy="15310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E1291-DC9B-C6DF-9A64-F6E69A997D4A}"/>
              </a:ext>
            </a:extLst>
          </p:cNvPr>
          <p:cNvSpPr>
            <a:spLocks noGrp="1"/>
          </p:cNvSpPr>
          <p:nvPr>
            <p:ph type="title"/>
          </p:nvPr>
        </p:nvSpPr>
        <p:spPr>
          <a:xfrm>
            <a:off x="487322" y="2181814"/>
            <a:ext cx="8490423" cy="1094577"/>
          </a:xfrm>
        </p:spPr>
        <p:txBody>
          <a:bodyPr/>
          <a:lstStyle/>
          <a:p>
            <a:pPr>
              <a:lnSpc>
                <a:spcPct val="90000"/>
              </a:lnSpc>
            </a:pPr>
            <a:r>
              <a:rPr lang="en-US" sz="1700" dirty="0">
                <a:latin typeface="+mj-lt"/>
              </a:rPr>
              <a:t>As illustrated in the previous slide, customers are segmented into five groups based on the RFM analysis: VIP, Frequent Buyers, Active, At Risk, and Regular customers.</a:t>
            </a:r>
            <a:br>
              <a:rPr lang="en-US" sz="1700" dirty="0">
                <a:latin typeface="+mj-lt"/>
              </a:rPr>
            </a:br>
            <a:br>
              <a:rPr lang="en-US" sz="1700" dirty="0">
                <a:latin typeface="+mj-lt"/>
              </a:rPr>
            </a:br>
            <a:r>
              <a:rPr lang="en-US" sz="1700" dirty="0">
                <a:latin typeface="+mj-lt"/>
              </a:rPr>
              <a:t>-VIP customers are the most valuable segment, with high frequency, recent purchases, and significant revenue contribution, playing a key role in overall sales performance.</a:t>
            </a:r>
            <a:br>
              <a:rPr lang="en-US" sz="1700" dirty="0">
                <a:latin typeface="+mj-lt"/>
              </a:rPr>
            </a:br>
            <a:br>
              <a:rPr lang="en-US" sz="1700" dirty="0">
                <a:latin typeface="+mj-lt"/>
              </a:rPr>
            </a:br>
            <a:r>
              <a:rPr lang="en-US" sz="1700" dirty="0">
                <a:latin typeface="+mj-lt"/>
              </a:rPr>
              <a:t>-Frequent Buyers show consistent purchasing behavior and represent a stable revenue source, although their engagement levels may vary.</a:t>
            </a:r>
            <a:br>
              <a:rPr lang="en-US" sz="1700" dirty="0">
                <a:latin typeface="+mj-lt"/>
              </a:rPr>
            </a:br>
            <a:br>
              <a:rPr lang="en-US" sz="1700" dirty="0">
                <a:latin typeface="+mj-lt"/>
              </a:rPr>
            </a:br>
            <a:r>
              <a:rPr lang="en-US" sz="1700" dirty="0">
                <a:latin typeface="+mj-lt"/>
              </a:rPr>
              <a:t>-Active customers have recent purchase activity but varying frequency and monetary value, indicating potential for further engagement.</a:t>
            </a:r>
            <a:br>
              <a:rPr lang="en-US" sz="1700" dirty="0">
                <a:latin typeface="+mj-lt"/>
              </a:rPr>
            </a:br>
            <a:br>
              <a:rPr lang="en-US" sz="1700" dirty="0">
                <a:latin typeface="+mj-lt"/>
              </a:rPr>
            </a:br>
            <a:r>
              <a:rPr lang="en-US" sz="1700" dirty="0">
                <a:latin typeface="+mj-lt"/>
              </a:rPr>
              <a:t>-The At Risk segment is critical, as these customers have not purchased recently and show a high likelihood of churn, requiring immediate retention actions.</a:t>
            </a:r>
            <a:br>
              <a:rPr lang="en-US" sz="1700" dirty="0">
                <a:latin typeface="+mj-lt"/>
              </a:rPr>
            </a:br>
            <a:br>
              <a:rPr lang="en-US" sz="1700" dirty="0">
                <a:latin typeface="+mj-lt"/>
              </a:rPr>
            </a:br>
            <a:r>
              <a:rPr lang="en-US" sz="1700" dirty="0">
                <a:latin typeface="+mj-lt"/>
              </a:rPr>
              <a:t>-Regular customers do not exhibit distinct behavioral patterns but form a stable base that can be further developed over time.</a:t>
            </a:r>
            <a:br>
              <a:rPr lang="en-US" sz="1700" dirty="0">
                <a:latin typeface="+mj-lt"/>
              </a:rPr>
            </a:br>
            <a:endParaRPr lang="fa-IR" sz="1700" dirty="0">
              <a:latin typeface="+mj-lt"/>
            </a:endParaRPr>
          </a:p>
        </p:txBody>
      </p:sp>
    </p:spTree>
    <p:extLst>
      <p:ext uri="{BB962C8B-B14F-4D97-AF65-F5344CB8AC3E}">
        <p14:creationId xmlns:p14="http://schemas.microsoft.com/office/powerpoint/2010/main" val="1144677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2EA5C-5CC1-82F2-D2F6-D1BCB42F8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D6157-9514-87E1-4318-ABE601C9144D}"/>
              </a:ext>
            </a:extLst>
          </p:cNvPr>
          <p:cNvSpPr>
            <a:spLocks noGrp="1"/>
          </p:cNvSpPr>
          <p:nvPr>
            <p:ph type="title"/>
          </p:nvPr>
        </p:nvSpPr>
        <p:spPr>
          <a:xfrm>
            <a:off x="547034" y="2322306"/>
            <a:ext cx="7994294" cy="1429395"/>
          </a:xfrm>
        </p:spPr>
        <p:txBody>
          <a:bodyPr/>
          <a:lstStyle/>
          <a:p>
            <a:pPr algn="l"/>
            <a:r>
              <a:rPr lang="en-US" sz="1700" dirty="0">
                <a:latin typeface="+mj-lt"/>
              </a:rPr>
              <a:t>First and foremost, the company should prioritize proactive retention strategies for the At Risk customer segment, as this group presents a high probability of churn and revenue loss. Targeted incentives such as personalized discounts and mobile or email notifications can be effective in re-engaging these customers.</a:t>
            </a:r>
            <a:br>
              <a:rPr lang="en-US" sz="1700" dirty="0">
                <a:latin typeface="+mj-lt"/>
              </a:rPr>
            </a:br>
            <a:r>
              <a:rPr lang="en-US" sz="1700" dirty="0">
                <a:latin typeface="+mj-lt"/>
              </a:rPr>
              <a:t>In addition, leveraging customer purchase history to deliver personalized product recommendations can significantly improve relevance and increase the likelihood of reactivation.</a:t>
            </a:r>
            <a:br>
              <a:rPr lang="en-US" sz="1700" dirty="0">
                <a:latin typeface="+mj-lt"/>
              </a:rPr>
            </a:br>
            <a:r>
              <a:rPr lang="en-US" sz="1700" dirty="0">
                <a:latin typeface="+mj-lt"/>
              </a:rPr>
              <a:t>Finally, capturing structured feedback from inactive customers is important to identify underlying issues and reduce future churn across the customer base.</a:t>
            </a:r>
            <a:br>
              <a:rPr lang="en-US" sz="1700" dirty="0">
                <a:latin typeface="+mj-lt"/>
              </a:rPr>
            </a:br>
            <a:r>
              <a:rPr lang="en-US" sz="1700" dirty="0">
                <a:latin typeface="+mj-lt"/>
              </a:rPr>
              <a:t>It is also important to note that this segment is highly time-sensitive; the longer these customers remain inactive, the more likely they are to switch to competitors. Over time, the probability of winning them back decreases significantly, and reactivation may become extremely difficult or even impossible.</a:t>
            </a:r>
            <a:br>
              <a:rPr lang="en-US" sz="1700" dirty="0">
                <a:latin typeface="+mj-lt"/>
              </a:rPr>
            </a:br>
            <a:endParaRPr lang="fa-IR" sz="1700" dirty="0">
              <a:latin typeface="+mj-lt"/>
            </a:endParaRPr>
          </a:p>
        </p:txBody>
      </p:sp>
      <p:sp>
        <p:nvSpPr>
          <p:cNvPr id="3" name="Subtitle 2">
            <a:extLst>
              <a:ext uri="{FF2B5EF4-FFF2-40B4-BE49-F238E27FC236}">
                <a16:creationId xmlns:a16="http://schemas.microsoft.com/office/drawing/2014/main" id="{3915490D-CE66-661E-40AE-7DBED78BE508}"/>
              </a:ext>
            </a:extLst>
          </p:cNvPr>
          <p:cNvSpPr>
            <a:spLocks noGrp="1"/>
          </p:cNvSpPr>
          <p:nvPr>
            <p:ph type="subTitle" idx="1"/>
          </p:nvPr>
        </p:nvSpPr>
        <p:spPr>
          <a:xfrm>
            <a:off x="371389" y="575227"/>
            <a:ext cx="6348901" cy="671100"/>
          </a:xfrm>
        </p:spPr>
        <p:txBody>
          <a:bodyPr/>
          <a:lstStyle/>
          <a:p>
            <a:pPr algn="l"/>
            <a:r>
              <a:rPr lang="en-US" sz="2400" b="1" dirty="0"/>
              <a:t>Recommendations (At Risk group):</a:t>
            </a:r>
            <a:endParaRPr lang="fa-IR" sz="2400" dirty="0"/>
          </a:p>
        </p:txBody>
      </p:sp>
    </p:spTree>
    <p:extLst>
      <p:ext uri="{BB962C8B-B14F-4D97-AF65-F5344CB8AC3E}">
        <p14:creationId xmlns:p14="http://schemas.microsoft.com/office/powerpoint/2010/main" val="137514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2"/>
          <p:cNvSpPr txBox="1">
            <a:spLocks noGrp="1"/>
          </p:cNvSpPr>
          <p:nvPr>
            <p:ph type="subTitle" idx="4"/>
          </p:nvPr>
        </p:nvSpPr>
        <p:spPr>
          <a:xfrm>
            <a:off x="537613" y="96419"/>
            <a:ext cx="4616278" cy="69253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t>Other recommendations:</a:t>
            </a:r>
            <a:endParaRPr sz="2800" b="1" dirty="0"/>
          </a:p>
        </p:txBody>
      </p:sp>
      <p:sp>
        <p:nvSpPr>
          <p:cNvPr id="346" name="Google Shape;346;p32"/>
          <p:cNvSpPr txBox="1">
            <a:spLocks noGrp="1"/>
          </p:cNvSpPr>
          <p:nvPr>
            <p:ph type="subTitle" idx="1"/>
          </p:nvPr>
        </p:nvSpPr>
        <p:spPr>
          <a:xfrm>
            <a:off x="445388" y="674650"/>
            <a:ext cx="5924239" cy="1213800"/>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en-US" sz="1320" dirty="0"/>
              <a:t>In terms of the VIP group, it is important for the company to maintain strong efforts to retain these customers and consistently meet their needs. Offering exclusive benefits such as premium promotions and personalized offers can both strengthen loyalty and serve as appreciation for their high-value contribution.</a:t>
            </a:r>
            <a:br>
              <a:rPr lang="en-US" sz="1320" dirty="0"/>
            </a:br>
            <a:endParaRPr lang="en-US" sz="1320" dirty="0"/>
          </a:p>
          <a:p>
            <a:pPr marL="171450" lvl="0" indent="-171450">
              <a:buFont typeface="Arial" panose="020B0604020202020204" pitchFamily="34" charset="0"/>
              <a:buChar char="•"/>
            </a:pPr>
            <a:r>
              <a:rPr lang="en-US" sz="1320" dirty="0"/>
              <a:t>For Frequent Buyers, the company should focus on increasing engagement and average order value through cross-selling and bundling strategies, with the aim of gradually converting them into VIP customers.</a:t>
            </a:r>
            <a:br>
              <a:rPr lang="en-US" sz="1320" dirty="0"/>
            </a:br>
            <a:endParaRPr lang="en-US" sz="1320" dirty="0"/>
          </a:p>
          <a:p>
            <a:pPr marL="171450" lvl="0" indent="-171450">
              <a:buFont typeface="Arial" panose="020B0604020202020204" pitchFamily="34" charset="0"/>
              <a:buChar char="•"/>
            </a:pPr>
            <a:r>
              <a:rPr lang="en-US" sz="1320" dirty="0"/>
              <a:t>Regarding Active customers, sustaining engagement through personalized recommendations and targeted promotions is essential to increase purchase frequency and strengthen their consistency over time.</a:t>
            </a:r>
            <a:br>
              <a:rPr lang="en-US" sz="1320" dirty="0"/>
            </a:br>
            <a:endParaRPr lang="en-US" sz="1320" dirty="0"/>
          </a:p>
          <a:p>
            <a:pPr marL="171450" lvl="0" indent="-171450">
              <a:buFont typeface="Arial" panose="020B0604020202020204" pitchFamily="34" charset="0"/>
              <a:buChar char="•"/>
            </a:pPr>
            <a:r>
              <a:rPr lang="en-US" sz="1320" dirty="0"/>
              <a:t>As for Regular customers, although they are less distinct in behavior, they still represent a growth opportunity. By collecting feedback and better understanding their needs, the company can identify barriers and gradually convert them into more active and valuable customers.</a:t>
            </a:r>
            <a:br>
              <a:rPr lang="en-US" sz="1320" dirty="0"/>
            </a:br>
            <a:endParaRPr sz="1320" dirty="0"/>
          </a:p>
        </p:txBody>
      </p:sp>
      <p:sp>
        <p:nvSpPr>
          <p:cNvPr id="350" name="Google Shape;350;p32"/>
          <p:cNvSpPr/>
          <p:nvPr/>
        </p:nvSpPr>
        <p:spPr>
          <a:xfrm rot="10800000">
            <a:off x="7893450" y="132995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51" name="Google Shape;351;p32"/>
          <p:cNvSpPr/>
          <p:nvPr/>
        </p:nvSpPr>
        <p:spPr>
          <a:xfrm rot="10800000">
            <a:off x="827525" y="43173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pic>
        <p:nvPicPr>
          <p:cNvPr id="352" name="Google Shape;352;p32"/>
          <p:cNvPicPr preferRelativeResize="0"/>
          <p:nvPr/>
        </p:nvPicPr>
        <p:blipFill>
          <a:blip r:embed="rId3">
            <a:alphaModFix/>
          </a:blip>
          <a:stretch>
            <a:fillRect/>
          </a:stretch>
        </p:blipFill>
        <p:spPr>
          <a:xfrm>
            <a:off x="6530329" y="1640778"/>
            <a:ext cx="1872803" cy="32531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07E2-1311-BF8B-C574-54D3CEBD6EDF}"/>
              </a:ext>
            </a:extLst>
          </p:cNvPr>
          <p:cNvSpPr>
            <a:spLocks noGrp="1"/>
          </p:cNvSpPr>
          <p:nvPr>
            <p:ph type="title"/>
          </p:nvPr>
        </p:nvSpPr>
        <p:spPr>
          <a:xfrm>
            <a:off x="634671" y="839650"/>
            <a:ext cx="8200856" cy="987300"/>
          </a:xfrm>
        </p:spPr>
        <p:txBody>
          <a:bodyPr/>
          <a:lstStyle/>
          <a:p>
            <a:r>
              <a:rPr lang="en-US" sz="1900" b="1" dirty="0"/>
              <a:t>This bar chart is also derived from the RFM analysis. This segmentation groups customers into five categories to provide a clearer understanding of customer behavior and value.</a:t>
            </a:r>
            <a:br>
              <a:rPr lang="en-US" sz="1900" dirty="0"/>
            </a:br>
            <a:endParaRPr lang="fa-IR" sz="1900" dirty="0"/>
          </a:p>
        </p:txBody>
      </p:sp>
      <p:graphicFrame>
        <p:nvGraphicFramePr>
          <p:cNvPr id="5" name="Picture Placeholder 4">
            <a:extLst>
              <a:ext uri="{FF2B5EF4-FFF2-40B4-BE49-F238E27FC236}">
                <a16:creationId xmlns:a16="http://schemas.microsoft.com/office/drawing/2014/main" id="{497E386A-1EA3-FD87-E09C-21999673F4EF}"/>
              </a:ext>
            </a:extLst>
          </p:cNvPr>
          <p:cNvGraphicFramePr>
            <a:graphicFrameLocks noGrp="1"/>
          </p:cNvGraphicFramePr>
          <p:nvPr>
            <p:ph type="pic" idx="2"/>
            <p:extLst>
              <p:ext uri="{D42A27DB-BD31-4B8C-83A1-F6EECF244321}">
                <p14:modId xmlns:p14="http://schemas.microsoft.com/office/powerpoint/2010/main" val="2095947031"/>
              </p:ext>
            </p:extLst>
          </p:nvPr>
        </p:nvGraphicFramePr>
        <p:xfrm>
          <a:off x="2500832" y="1608461"/>
          <a:ext cx="6008497" cy="3103013"/>
        </p:xfrm>
        <a:graphic>
          <a:graphicData uri="http://schemas.openxmlformats.org/drawingml/2006/chart">
            <c:chart xmlns:c="http://schemas.openxmlformats.org/drawingml/2006/chart" xmlns:r="http://schemas.openxmlformats.org/officeDocument/2006/relationships" r:id="rId2"/>
          </a:graphicData>
        </a:graphic>
      </p:graphicFrame>
      <p:pic>
        <p:nvPicPr>
          <p:cNvPr id="3" name="Google Shape;588;p47">
            <a:extLst>
              <a:ext uri="{FF2B5EF4-FFF2-40B4-BE49-F238E27FC236}">
                <a16:creationId xmlns:a16="http://schemas.microsoft.com/office/drawing/2014/main" id="{ABE2537A-29D7-558A-5B29-B02EC4505DEC}"/>
              </a:ext>
            </a:extLst>
          </p:cNvPr>
          <p:cNvPicPr preferRelativeResize="0"/>
          <p:nvPr/>
        </p:nvPicPr>
        <p:blipFill>
          <a:blip r:embed="rId3">
            <a:alphaModFix/>
          </a:blip>
          <a:stretch>
            <a:fillRect/>
          </a:stretch>
        </p:blipFill>
        <p:spPr>
          <a:xfrm>
            <a:off x="826872" y="3714267"/>
            <a:ext cx="841504" cy="1179166"/>
          </a:xfrm>
          <a:prstGeom prst="rect">
            <a:avLst/>
          </a:prstGeom>
          <a:noFill/>
          <a:ln>
            <a:noFill/>
          </a:ln>
        </p:spPr>
      </p:pic>
    </p:spTree>
    <p:extLst>
      <p:ext uri="{BB962C8B-B14F-4D97-AF65-F5344CB8AC3E}">
        <p14:creationId xmlns:p14="http://schemas.microsoft.com/office/powerpoint/2010/main" val="2105873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66DC4-290F-C3CC-7619-66674B8E3A1D}"/>
              </a:ext>
            </a:extLst>
          </p:cNvPr>
          <p:cNvSpPr>
            <a:spLocks noGrp="1"/>
          </p:cNvSpPr>
          <p:nvPr>
            <p:ph type="title"/>
          </p:nvPr>
        </p:nvSpPr>
        <p:spPr>
          <a:xfrm>
            <a:off x="522336" y="1464040"/>
            <a:ext cx="8099327" cy="2423237"/>
          </a:xfrm>
        </p:spPr>
        <p:txBody>
          <a:bodyPr/>
          <a:lstStyle/>
          <a:p>
            <a:pPr>
              <a:lnSpc>
                <a:spcPct val="100000"/>
              </a:lnSpc>
            </a:pPr>
            <a:r>
              <a:rPr lang="en-US" sz="1700" dirty="0">
                <a:latin typeface="+mj-lt"/>
                <a:cs typeface="Lane Humouresque" panose="020B0303020202020204" pitchFamily="34" charset="0"/>
              </a:rPr>
              <a:t>The revenue contribution analysis based on RFM customer segmentation reveals a highly concentrated distribution across customer groups. Among all five segments, VIP customers generate the highest share of total revenue, outperforming the remaining segments by a significant margin of nearly 4 million, showing that a small group of highly loyal, high-frequency customers is the main driver of profitability. Frequent Buyers represent the second most valuable segment, highlighting the importance of repeat purchasing behavior in sustaining revenue.</a:t>
            </a:r>
            <a:br>
              <a:rPr lang="en-US" sz="1700" dirty="0">
                <a:latin typeface="+mj-lt"/>
                <a:cs typeface="Lane Humouresque" panose="020B0303020202020204" pitchFamily="34" charset="0"/>
              </a:rPr>
            </a:br>
            <a:r>
              <a:rPr lang="en-US" sz="1700" dirty="0">
                <a:latin typeface="+mj-lt"/>
                <a:cs typeface="Lane Humouresque" panose="020B0303020202020204" pitchFamily="34" charset="0"/>
              </a:rPr>
              <a:t>After these two dominant groups, revenue drops noticeably: the At Risk segment contributes moderately lower revenue, while Active and Regular customers account for the smallest shares with only minor differences between them. This sharp decline shows an uneven distribution of customer value.</a:t>
            </a:r>
            <a:br>
              <a:rPr lang="en-US" sz="1700" dirty="0">
                <a:latin typeface="+mj-lt"/>
                <a:cs typeface="Lane Humouresque" panose="020B0303020202020204" pitchFamily="34" charset="0"/>
              </a:rPr>
            </a:br>
            <a:r>
              <a:rPr lang="en-US" sz="1700" dirty="0">
                <a:latin typeface="+mj-lt"/>
                <a:cs typeface="Lane Humouresque" panose="020B0303020202020204" pitchFamily="34" charset="0"/>
              </a:rPr>
              <a:t>Overall, the results emphasize the importance of retaining high-value customers through loyalty programs, personalized marketing, and engagement strategies, while also presenting opportunities to reactivate and upsell lower-performing segments to improve long-term customer lifetime value and revenue sustainability.</a:t>
            </a:r>
            <a:endParaRPr lang="fa-IR" sz="1700" dirty="0">
              <a:latin typeface="+mj-lt"/>
            </a:endParaRPr>
          </a:p>
        </p:txBody>
      </p:sp>
    </p:spTree>
    <p:extLst>
      <p:ext uri="{BB962C8B-B14F-4D97-AF65-F5344CB8AC3E}">
        <p14:creationId xmlns:p14="http://schemas.microsoft.com/office/powerpoint/2010/main" val="3409558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ECDC12E6-AEE0-F36E-E1AA-0E53BC7938B4}"/>
            </a:ext>
          </a:extLst>
        </p:cNvPr>
        <p:cNvGrpSpPr/>
        <p:nvPr/>
      </p:nvGrpSpPr>
      <p:grpSpPr>
        <a:xfrm>
          <a:off x="0" y="0"/>
          <a:ext cx="0" cy="0"/>
          <a:chOff x="0" y="0"/>
          <a:chExt cx="0" cy="0"/>
        </a:xfrm>
      </p:grpSpPr>
      <p:sp>
        <p:nvSpPr>
          <p:cNvPr id="344" name="Google Shape;344;p32">
            <a:extLst>
              <a:ext uri="{FF2B5EF4-FFF2-40B4-BE49-F238E27FC236}">
                <a16:creationId xmlns:a16="http://schemas.microsoft.com/office/drawing/2014/main" id="{E8998CED-141C-37AD-A052-7AA177C2DFC0}"/>
              </a:ext>
            </a:extLst>
          </p:cNvPr>
          <p:cNvSpPr txBox="1">
            <a:spLocks noGrp="1"/>
          </p:cNvSpPr>
          <p:nvPr>
            <p:ph type="subTitle" idx="4"/>
          </p:nvPr>
        </p:nvSpPr>
        <p:spPr>
          <a:xfrm>
            <a:off x="527223" y="-22581"/>
            <a:ext cx="4616278" cy="69253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t>Recommendations:</a:t>
            </a:r>
            <a:endParaRPr sz="2800" b="1" dirty="0"/>
          </a:p>
        </p:txBody>
      </p:sp>
      <p:sp>
        <p:nvSpPr>
          <p:cNvPr id="346" name="Google Shape;346;p32">
            <a:extLst>
              <a:ext uri="{FF2B5EF4-FFF2-40B4-BE49-F238E27FC236}">
                <a16:creationId xmlns:a16="http://schemas.microsoft.com/office/drawing/2014/main" id="{5791B248-F81D-DA7F-92C1-63E21052FE5B}"/>
              </a:ext>
            </a:extLst>
          </p:cNvPr>
          <p:cNvSpPr txBox="1">
            <a:spLocks noGrp="1"/>
          </p:cNvSpPr>
          <p:nvPr>
            <p:ph type="subTitle" idx="1"/>
          </p:nvPr>
        </p:nvSpPr>
        <p:spPr>
          <a:xfrm>
            <a:off x="527223" y="595327"/>
            <a:ext cx="5633294" cy="121380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US" sz="1400" dirty="0"/>
              <a:t>Given the strong revenue concentration among VIP customers, the primary focus should be on strengthening retention strategies for this segment through personalized offers, loyalty programs, and priority services to maximize customer lifetime value. </a:t>
            </a:r>
          </a:p>
          <a:p>
            <a:pPr marL="0" lvl="0" indent="0"/>
            <a:endParaRPr lang="en-US" sz="1400" dirty="0"/>
          </a:p>
          <a:p>
            <a:pPr marL="285750" lvl="0" indent="-285750">
              <a:buFont typeface="Arial" panose="020B0604020202020204" pitchFamily="34" charset="0"/>
              <a:buChar char="•"/>
            </a:pPr>
            <a:r>
              <a:rPr lang="en-US" sz="1400" dirty="0"/>
              <a:t>At the same time, Frequent Buyers should be actively nurtured to transition into VIP status via targeted incentives and cross-selling strategies.</a:t>
            </a:r>
            <a:br>
              <a:rPr lang="en-US" sz="1400" dirty="0"/>
            </a:br>
            <a:endParaRPr lang="en-US" sz="1400" dirty="0"/>
          </a:p>
          <a:p>
            <a:pPr marL="285750" lvl="0" indent="-285750">
              <a:buFont typeface="Arial" panose="020B0604020202020204" pitchFamily="34" charset="0"/>
              <a:buChar char="•"/>
            </a:pPr>
            <a:r>
              <a:rPr lang="en-US" sz="1400" dirty="0"/>
              <a:t>For lower-engagement segments such as Active, Regular, and At Risk customers, reactivation campaigns should be implemented using personalized promotions, win-back discounts, and behavioral triggers to increase purchase frequency. </a:t>
            </a:r>
            <a:br>
              <a:rPr lang="en-US" sz="1400" dirty="0"/>
            </a:br>
            <a:endParaRPr lang="en-US" sz="1400" dirty="0"/>
          </a:p>
          <a:p>
            <a:pPr marL="285750" lvl="0" indent="-285750">
              <a:buFont typeface="Arial" panose="020B0604020202020204" pitchFamily="34" charset="0"/>
              <a:buChar char="•"/>
            </a:pPr>
            <a:r>
              <a:rPr lang="en-US" sz="1400" dirty="0"/>
              <a:t>Overall, the strategy should balance retention of high-value customers with systematic re-engagement of lower-value segments to optimize long-term revenue growth.</a:t>
            </a:r>
            <a:br>
              <a:rPr lang="en-US" sz="1400" dirty="0"/>
            </a:br>
            <a:endParaRPr sz="1320" dirty="0"/>
          </a:p>
        </p:txBody>
      </p:sp>
      <p:sp>
        <p:nvSpPr>
          <p:cNvPr id="350" name="Google Shape;350;p32">
            <a:extLst>
              <a:ext uri="{FF2B5EF4-FFF2-40B4-BE49-F238E27FC236}">
                <a16:creationId xmlns:a16="http://schemas.microsoft.com/office/drawing/2014/main" id="{2D95E6C1-81FA-0107-75D4-D07A1E404BCB}"/>
              </a:ext>
            </a:extLst>
          </p:cNvPr>
          <p:cNvSpPr/>
          <p:nvPr/>
        </p:nvSpPr>
        <p:spPr>
          <a:xfrm rot="10800000">
            <a:off x="7893450" y="132995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pic>
        <p:nvPicPr>
          <p:cNvPr id="2" name="Google Shape;404;p36">
            <a:extLst>
              <a:ext uri="{FF2B5EF4-FFF2-40B4-BE49-F238E27FC236}">
                <a16:creationId xmlns:a16="http://schemas.microsoft.com/office/drawing/2014/main" id="{2304C50D-CB9A-8D63-2FCE-977B8151050E}"/>
              </a:ext>
            </a:extLst>
          </p:cNvPr>
          <p:cNvPicPr preferRelativeResize="0"/>
          <p:nvPr/>
        </p:nvPicPr>
        <p:blipFill>
          <a:blip r:embed="rId3">
            <a:alphaModFix/>
          </a:blip>
          <a:stretch>
            <a:fillRect/>
          </a:stretch>
        </p:blipFill>
        <p:spPr>
          <a:xfrm>
            <a:off x="5911321" y="2537268"/>
            <a:ext cx="3139161" cy="2368769"/>
          </a:xfrm>
          <a:prstGeom prst="rect">
            <a:avLst/>
          </a:prstGeom>
          <a:noFill/>
          <a:ln>
            <a:noFill/>
          </a:ln>
        </p:spPr>
      </p:pic>
    </p:spTree>
    <p:extLst>
      <p:ext uri="{BB962C8B-B14F-4D97-AF65-F5344CB8AC3E}">
        <p14:creationId xmlns:p14="http://schemas.microsoft.com/office/powerpoint/2010/main" val="623366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7D874-54A6-CA06-435A-5B796DF4E470}"/>
              </a:ext>
            </a:extLst>
          </p:cNvPr>
          <p:cNvSpPr>
            <a:spLocks noGrp="1"/>
          </p:cNvSpPr>
          <p:nvPr>
            <p:ph type="title"/>
          </p:nvPr>
        </p:nvSpPr>
        <p:spPr>
          <a:xfrm>
            <a:off x="616316" y="610146"/>
            <a:ext cx="8098028" cy="987300"/>
          </a:xfrm>
        </p:spPr>
        <p:txBody>
          <a:bodyPr/>
          <a:lstStyle/>
          <a:p>
            <a:r>
              <a:rPr lang="en-US" sz="2000" dirty="0"/>
              <a:t>Here we have a line graph showing the number of orders across different time periods, highlighting peak hours and demand fluctuations throughout the day.</a:t>
            </a:r>
            <a:endParaRPr lang="fa-IR" sz="2000" dirty="0"/>
          </a:p>
        </p:txBody>
      </p:sp>
      <p:graphicFrame>
        <p:nvGraphicFramePr>
          <p:cNvPr id="5" name="Picture Placeholder 4">
            <a:extLst>
              <a:ext uri="{FF2B5EF4-FFF2-40B4-BE49-F238E27FC236}">
                <a16:creationId xmlns:a16="http://schemas.microsoft.com/office/drawing/2014/main" id="{B0F98D70-2A17-9203-EF47-3042EA525D24}"/>
              </a:ext>
            </a:extLst>
          </p:cNvPr>
          <p:cNvGraphicFramePr>
            <a:graphicFrameLocks noGrp="1"/>
          </p:cNvGraphicFramePr>
          <p:nvPr>
            <p:ph type="pic" idx="2"/>
            <p:extLst>
              <p:ext uri="{D42A27DB-BD31-4B8C-83A1-F6EECF244321}">
                <p14:modId xmlns:p14="http://schemas.microsoft.com/office/powerpoint/2010/main" val="2763957479"/>
              </p:ext>
            </p:extLst>
          </p:nvPr>
        </p:nvGraphicFramePr>
        <p:xfrm>
          <a:off x="2831336" y="1674564"/>
          <a:ext cx="5530467" cy="2995936"/>
        </p:xfrm>
        <a:graphic>
          <a:graphicData uri="http://schemas.openxmlformats.org/drawingml/2006/chart">
            <c:chart xmlns:c="http://schemas.openxmlformats.org/drawingml/2006/chart" xmlns:r="http://schemas.openxmlformats.org/officeDocument/2006/relationships" r:id="rId2"/>
          </a:graphicData>
        </a:graphic>
      </p:graphicFrame>
      <p:pic>
        <p:nvPicPr>
          <p:cNvPr id="3" name="Google Shape;586;p47">
            <a:extLst>
              <a:ext uri="{FF2B5EF4-FFF2-40B4-BE49-F238E27FC236}">
                <a16:creationId xmlns:a16="http://schemas.microsoft.com/office/drawing/2014/main" id="{262B8E0E-C427-4132-E82A-D729A578A3A1}"/>
              </a:ext>
            </a:extLst>
          </p:cNvPr>
          <p:cNvPicPr preferRelativeResize="0"/>
          <p:nvPr/>
        </p:nvPicPr>
        <p:blipFill>
          <a:blip r:embed="rId3">
            <a:alphaModFix/>
          </a:blip>
          <a:stretch>
            <a:fillRect/>
          </a:stretch>
        </p:blipFill>
        <p:spPr>
          <a:xfrm>
            <a:off x="476058" y="3733015"/>
            <a:ext cx="1231146" cy="1078804"/>
          </a:xfrm>
          <a:prstGeom prst="rect">
            <a:avLst/>
          </a:prstGeom>
          <a:noFill/>
          <a:ln>
            <a:noFill/>
          </a:ln>
        </p:spPr>
      </p:pic>
    </p:spTree>
    <p:extLst>
      <p:ext uri="{BB962C8B-B14F-4D97-AF65-F5344CB8AC3E}">
        <p14:creationId xmlns:p14="http://schemas.microsoft.com/office/powerpoint/2010/main" val="1836831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87;p47">
            <a:extLst>
              <a:ext uri="{FF2B5EF4-FFF2-40B4-BE49-F238E27FC236}">
                <a16:creationId xmlns:a16="http://schemas.microsoft.com/office/drawing/2014/main" id="{5FC48489-5D7A-ED57-041B-2997BFF5AF05}"/>
              </a:ext>
            </a:extLst>
          </p:cNvPr>
          <p:cNvPicPr preferRelativeResize="0"/>
          <p:nvPr/>
        </p:nvPicPr>
        <p:blipFill>
          <a:blip r:embed="rId2">
            <a:alphaModFix/>
          </a:blip>
          <a:stretch>
            <a:fillRect/>
          </a:stretch>
        </p:blipFill>
        <p:spPr>
          <a:xfrm>
            <a:off x="8026316" y="3830923"/>
            <a:ext cx="1117684" cy="1179167"/>
          </a:xfrm>
          <a:prstGeom prst="rect">
            <a:avLst/>
          </a:prstGeom>
          <a:noFill/>
          <a:ln>
            <a:noFill/>
          </a:ln>
        </p:spPr>
      </p:pic>
      <p:sp>
        <p:nvSpPr>
          <p:cNvPr id="3" name="Rectangle 1">
            <a:extLst>
              <a:ext uri="{FF2B5EF4-FFF2-40B4-BE49-F238E27FC236}">
                <a16:creationId xmlns:a16="http://schemas.microsoft.com/office/drawing/2014/main" id="{0ED4EF72-EA5B-D5A3-CD92-004BFB9B215F}"/>
              </a:ext>
            </a:extLst>
          </p:cNvPr>
          <p:cNvSpPr>
            <a:spLocks noGrp="1" noChangeArrowheads="1"/>
          </p:cNvSpPr>
          <p:nvPr>
            <p:ph type="title"/>
          </p:nvPr>
        </p:nvSpPr>
        <p:spPr bwMode="auto">
          <a:xfrm>
            <a:off x="573702" y="339581"/>
            <a:ext cx="8204411" cy="4670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fa-IR" altLang="fa-IR" sz="1750" b="0" i="0" u="none" strike="noStrike" cap="none" normalizeH="0" baseline="0" dirty="0">
                <a:ln>
                  <a:noFill/>
                </a:ln>
                <a:solidFill>
                  <a:schemeClr val="tx1"/>
                </a:solidFill>
                <a:effectLst/>
                <a:latin typeface="+mn-lt"/>
              </a:rPr>
              <a:t>Orders were recorded from 6 a.m. to 9 p.m., which were divided into four time intervals of three hours each.</a:t>
            </a:r>
            <a:br>
              <a:rPr kumimoji="0" lang="en-US" altLang="fa-IR" sz="1750" b="0" i="0" u="none" strike="noStrike" cap="none" normalizeH="0" baseline="0" dirty="0">
                <a:ln>
                  <a:noFill/>
                </a:ln>
                <a:solidFill>
                  <a:schemeClr val="tx1"/>
                </a:solidFill>
                <a:effectLst/>
                <a:latin typeface="+mn-lt"/>
              </a:rPr>
            </a:br>
            <a:endParaRPr kumimoji="0" lang="fa-IR" altLang="fa-IR" sz="1750" b="0" i="0" u="none" strike="noStrike" cap="none" normalizeH="0" baseline="0" dirty="0">
              <a:ln>
                <a:noFill/>
              </a:ln>
              <a:solidFill>
                <a:schemeClr val="tx1"/>
              </a:solidFill>
              <a:effectLst/>
              <a:latin typeface="+mn-lt"/>
            </a:endParaRPr>
          </a:p>
          <a:p>
            <a:pPr marL="0" marR="0" lvl="0" indent="0" defTabSz="914400" rtl="0" eaLnBrk="0" fontAlgn="base" latinLnBrk="0" hangingPunct="0">
              <a:lnSpc>
                <a:spcPct val="100000"/>
              </a:lnSpc>
              <a:spcBef>
                <a:spcPct val="0"/>
              </a:spcBef>
              <a:spcAft>
                <a:spcPct val="0"/>
              </a:spcAft>
              <a:buClrTx/>
              <a:buSzTx/>
              <a:buFontTx/>
              <a:buNone/>
              <a:tabLst/>
            </a:pPr>
            <a:r>
              <a:rPr kumimoji="0" lang="fa-IR" altLang="fa-IR" sz="1750" b="0" i="0" u="none" strike="noStrike" cap="none" normalizeH="0" baseline="0" dirty="0">
                <a:ln>
                  <a:noFill/>
                </a:ln>
                <a:solidFill>
                  <a:schemeClr val="tx1"/>
                </a:solidFill>
                <a:effectLst/>
                <a:latin typeface="+mn-lt"/>
              </a:rPr>
              <a:t>As can be observed, the number of sales is at its lowest between 6 a.m. and 9 a.m. However, from 10 a.m. onwards, sales gradually increase and reach a significant level during the 10 a.m. to 1 p.m. period, indicating higher customer activity during mid-day hours.</a:t>
            </a:r>
          </a:p>
          <a:p>
            <a:pPr marL="0" marR="0" lvl="0" indent="0" defTabSz="914400" rtl="0" eaLnBrk="0" fontAlgn="base" latinLnBrk="0" hangingPunct="0">
              <a:lnSpc>
                <a:spcPct val="100000"/>
              </a:lnSpc>
              <a:spcBef>
                <a:spcPct val="0"/>
              </a:spcBef>
              <a:spcAft>
                <a:spcPct val="0"/>
              </a:spcAft>
              <a:buClrTx/>
              <a:buSzTx/>
              <a:buFontTx/>
              <a:buNone/>
              <a:tabLst/>
            </a:pPr>
            <a:br>
              <a:rPr kumimoji="0" lang="en-US" altLang="fa-IR" sz="1750" b="0" i="0" u="none" strike="noStrike" cap="none" normalizeH="0" baseline="0" dirty="0">
                <a:ln>
                  <a:noFill/>
                </a:ln>
                <a:solidFill>
                  <a:schemeClr val="tx1"/>
                </a:solidFill>
                <a:effectLst/>
                <a:latin typeface="+mn-lt"/>
              </a:rPr>
            </a:br>
            <a:r>
              <a:rPr kumimoji="0" lang="fa-IR" altLang="fa-IR" sz="1750" b="0" i="0" u="none" strike="noStrike" cap="none" normalizeH="0" baseline="0" dirty="0">
                <a:ln>
                  <a:noFill/>
                </a:ln>
                <a:solidFill>
                  <a:schemeClr val="tx1"/>
                </a:solidFill>
                <a:effectLst/>
                <a:latin typeface="+mn-lt"/>
              </a:rPr>
              <a:t>In comparison, sales decrease by approximately 5,000 orders in the 2 p.m. to 5 p.m. interval. Ultimately, the highest number of sales is recorded between 6 p.m. and 9 p.m., representing the peak shopping hours of the day.</a:t>
            </a:r>
          </a:p>
          <a:p>
            <a:pPr marL="0" marR="0" lvl="0" indent="0" defTabSz="914400" rtl="0" eaLnBrk="0" fontAlgn="base" latinLnBrk="0" hangingPunct="0">
              <a:lnSpc>
                <a:spcPct val="100000"/>
              </a:lnSpc>
              <a:spcBef>
                <a:spcPct val="0"/>
              </a:spcBef>
              <a:spcAft>
                <a:spcPct val="0"/>
              </a:spcAft>
              <a:buClrTx/>
              <a:buSzTx/>
              <a:buFontTx/>
              <a:buNone/>
              <a:tabLst/>
            </a:pPr>
            <a:br>
              <a:rPr kumimoji="0" lang="fa-IR" altLang="fa-IR" sz="1750" b="0" i="0" u="none" strike="noStrike" cap="none" normalizeH="0" baseline="0" dirty="0">
                <a:ln>
                  <a:noFill/>
                </a:ln>
                <a:solidFill>
                  <a:schemeClr val="tx1"/>
                </a:solidFill>
                <a:effectLst/>
                <a:latin typeface="+mn-lt"/>
              </a:rPr>
            </a:br>
            <a:r>
              <a:rPr kumimoji="0" lang="fa-IR" altLang="fa-IR" sz="1750" b="0" i="0" u="none" strike="noStrike" cap="none" normalizeH="0" baseline="0" dirty="0">
                <a:ln>
                  <a:noFill/>
                </a:ln>
                <a:solidFill>
                  <a:schemeClr val="tx1"/>
                </a:solidFill>
                <a:effectLst/>
                <a:latin typeface="+mn-lt"/>
              </a:rPr>
              <a:t>This pattern suggests a clear concentration of customer purchasing behavior in the evening, indicating that promotional campaigns and marketing activities would likely be more effective if scheduled during peak hours. In contrast, early morning hours show consistently low engagement, highlighting a potential opportunity for targeted promotions to increase off-peak sales.</a:t>
            </a:r>
          </a:p>
        </p:txBody>
      </p:sp>
    </p:spTree>
    <p:extLst>
      <p:ext uri="{BB962C8B-B14F-4D97-AF65-F5344CB8AC3E}">
        <p14:creationId xmlns:p14="http://schemas.microsoft.com/office/powerpoint/2010/main" val="3235451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ABEAA3BF-BA4F-A3C4-CE5E-E363FF46B7B8}"/>
            </a:ext>
          </a:extLst>
        </p:cNvPr>
        <p:cNvGrpSpPr/>
        <p:nvPr/>
      </p:nvGrpSpPr>
      <p:grpSpPr>
        <a:xfrm>
          <a:off x="0" y="0"/>
          <a:ext cx="0" cy="0"/>
          <a:chOff x="0" y="0"/>
          <a:chExt cx="0" cy="0"/>
        </a:xfrm>
      </p:grpSpPr>
      <p:sp>
        <p:nvSpPr>
          <p:cNvPr id="344" name="Google Shape;344;p32">
            <a:extLst>
              <a:ext uri="{FF2B5EF4-FFF2-40B4-BE49-F238E27FC236}">
                <a16:creationId xmlns:a16="http://schemas.microsoft.com/office/drawing/2014/main" id="{90759A4E-5BC3-2D99-B04D-4AB2BD59A824}"/>
              </a:ext>
            </a:extLst>
          </p:cNvPr>
          <p:cNvSpPr txBox="1">
            <a:spLocks noGrp="1"/>
          </p:cNvSpPr>
          <p:nvPr>
            <p:ph type="subTitle" idx="4"/>
          </p:nvPr>
        </p:nvSpPr>
        <p:spPr>
          <a:xfrm>
            <a:off x="445388" y="-17881"/>
            <a:ext cx="4616278" cy="69253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t>Recommendations:</a:t>
            </a:r>
            <a:endParaRPr sz="2800" b="1" dirty="0"/>
          </a:p>
        </p:txBody>
      </p:sp>
      <p:sp>
        <p:nvSpPr>
          <p:cNvPr id="346" name="Google Shape;346;p32">
            <a:extLst>
              <a:ext uri="{FF2B5EF4-FFF2-40B4-BE49-F238E27FC236}">
                <a16:creationId xmlns:a16="http://schemas.microsoft.com/office/drawing/2014/main" id="{9593FDD5-07C3-A259-1BF5-D3C0A7729205}"/>
              </a:ext>
            </a:extLst>
          </p:cNvPr>
          <p:cNvSpPr txBox="1">
            <a:spLocks noGrp="1"/>
          </p:cNvSpPr>
          <p:nvPr>
            <p:ph type="subTitle" idx="1"/>
          </p:nvPr>
        </p:nvSpPr>
        <p:spPr>
          <a:xfrm>
            <a:off x="445389" y="549959"/>
            <a:ext cx="5250496" cy="1213800"/>
          </a:xfrm>
          <a:prstGeom prst="rect">
            <a:avLst/>
          </a:prstGeom>
        </p:spPr>
        <p:txBody>
          <a:bodyPr spcFirstLastPara="1" wrap="square" lIns="91425" tIns="91425" rIns="91425" bIns="91425" anchor="t" anchorCtr="0">
            <a:noAutofit/>
          </a:bodyPr>
          <a:lstStyle/>
          <a:p>
            <a:pPr marL="0" lvl="0" indent="0"/>
            <a:r>
              <a:rPr lang="en-US" sz="1300" dirty="0"/>
              <a:t>Based on the observed order distribution, the company should align its marketing and operational strategies with customer purchasing behavior across the day. Promotional campaigns, email marketing, and push notifications should be scheduled primarily during peak hours (6–9 p.m.) to maximize engagement and conversion rates.</a:t>
            </a:r>
            <a:br>
              <a:rPr lang="en-US" sz="1300" dirty="0"/>
            </a:br>
            <a:endParaRPr lang="en-US" sz="1300" dirty="0"/>
          </a:p>
          <a:p>
            <a:pPr marL="0" lvl="0" indent="0"/>
            <a:r>
              <a:rPr lang="en-US" sz="1300" dirty="0"/>
              <a:t>In contrast, targeted incentives such as flash sales or time-limited discounts can be introduced during low-activity periods (6–9 a.m.) to stimulate demand and improve off-peak performance. Additionally, inventory levels and operational resources should be optimized around peak hours to ensure efficient order fulfillment and avoid service delays.</a:t>
            </a:r>
            <a:br>
              <a:rPr lang="en-US" sz="1300" dirty="0"/>
            </a:br>
            <a:endParaRPr lang="en-US" sz="1300" dirty="0"/>
          </a:p>
          <a:p>
            <a:pPr marL="0" lvl="0" indent="0"/>
            <a:r>
              <a:rPr lang="en-US" sz="1300" dirty="0"/>
              <a:t>Further improvements can also be achieved by implementing time-based advertising strategies, prioritizing ad spend during high-traffic periods to increase return on investment. Finally, deeper analysis of customer behavior during different time intervals may provide additional insights to further refine marketing and sales strategies.</a:t>
            </a:r>
            <a:br>
              <a:rPr lang="en-US" sz="1300" dirty="0"/>
            </a:br>
            <a:endParaRPr sz="1300" dirty="0"/>
          </a:p>
        </p:txBody>
      </p:sp>
      <p:sp>
        <p:nvSpPr>
          <p:cNvPr id="349" name="Google Shape;349;p32">
            <a:extLst>
              <a:ext uri="{FF2B5EF4-FFF2-40B4-BE49-F238E27FC236}">
                <a16:creationId xmlns:a16="http://schemas.microsoft.com/office/drawing/2014/main" id="{61B85FB4-E474-57ED-B883-E222274DD69C}"/>
              </a:ext>
            </a:extLst>
          </p:cNvPr>
          <p:cNvSpPr/>
          <p:nvPr/>
        </p:nvSpPr>
        <p:spPr>
          <a:xfrm rot="10800000" flipH="1">
            <a:off x="5620375" y="3186700"/>
            <a:ext cx="4184100" cy="4184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50" name="Google Shape;350;p32">
            <a:extLst>
              <a:ext uri="{FF2B5EF4-FFF2-40B4-BE49-F238E27FC236}">
                <a16:creationId xmlns:a16="http://schemas.microsoft.com/office/drawing/2014/main" id="{C8072B26-9AE2-B65F-CE21-6CEFF6B89541}"/>
              </a:ext>
            </a:extLst>
          </p:cNvPr>
          <p:cNvSpPr/>
          <p:nvPr/>
        </p:nvSpPr>
        <p:spPr>
          <a:xfrm rot="10800000">
            <a:off x="7893450" y="1329950"/>
            <a:ext cx="226800" cy="2268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51" name="Google Shape;351;p32">
            <a:extLst>
              <a:ext uri="{FF2B5EF4-FFF2-40B4-BE49-F238E27FC236}">
                <a16:creationId xmlns:a16="http://schemas.microsoft.com/office/drawing/2014/main" id="{51281AF8-A090-5A51-FA5C-E8DE62E04110}"/>
              </a:ext>
            </a:extLst>
          </p:cNvPr>
          <p:cNvSpPr/>
          <p:nvPr/>
        </p:nvSpPr>
        <p:spPr>
          <a:xfrm rot="10800000">
            <a:off x="827525" y="4317350"/>
            <a:ext cx="151500" cy="1515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pic>
        <p:nvPicPr>
          <p:cNvPr id="2" name="Google Shape;419;p37">
            <a:extLst>
              <a:ext uri="{FF2B5EF4-FFF2-40B4-BE49-F238E27FC236}">
                <a16:creationId xmlns:a16="http://schemas.microsoft.com/office/drawing/2014/main" id="{598B4381-EBC9-38CF-0D00-B4EDB6BFFB30}"/>
              </a:ext>
            </a:extLst>
          </p:cNvPr>
          <p:cNvPicPr preferRelativeResize="0"/>
          <p:nvPr/>
        </p:nvPicPr>
        <p:blipFill>
          <a:blip r:embed="rId3">
            <a:alphaModFix/>
          </a:blip>
          <a:stretch>
            <a:fillRect/>
          </a:stretch>
        </p:blipFill>
        <p:spPr>
          <a:xfrm>
            <a:off x="5695884" y="2015836"/>
            <a:ext cx="3267150" cy="2777074"/>
          </a:xfrm>
          <a:prstGeom prst="rect">
            <a:avLst/>
          </a:prstGeom>
          <a:noFill/>
          <a:ln>
            <a:noFill/>
          </a:ln>
        </p:spPr>
      </p:pic>
    </p:spTree>
    <p:extLst>
      <p:ext uri="{BB962C8B-B14F-4D97-AF65-F5344CB8AC3E}">
        <p14:creationId xmlns:p14="http://schemas.microsoft.com/office/powerpoint/2010/main" val="1843803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26877-1598-49C7-E45E-E312ACC07F4F}"/>
              </a:ext>
            </a:extLst>
          </p:cNvPr>
          <p:cNvSpPr>
            <a:spLocks noGrp="1"/>
          </p:cNvSpPr>
          <p:nvPr>
            <p:ph type="title"/>
          </p:nvPr>
        </p:nvSpPr>
        <p:spPr>
          <a:xfrm>
            <a:off x="431427" y="1133065"/>
            <a:ext cx="4764028" cy="1188363"/>
          </a:xfrm>
        </p:spPr>
        <p:txBody>
          <a:bodyPr/>
          <a:lstStyle/>
          <a:p>
            <a:r>
              <a:rPr lang="en-US" sz="4400" dirty="0"/>
              <a:t>Thank you for your attention.</a:t>
            </a:r>
            <a:endParaRPr lang="fa-IR" sz="4400" dirty="0"/>
          </a:p>
        </p:txBody>
      </p:sp>
      <p:pic>
        <p:nvPicPr>
          <p:cNvPr id="4" name="Google Shape;557;p46">
            <a:extLst>
              <a:ext uri="{FF2B5EF4-FFF2-40B4-BE49-F238E27FC236}">
                <a16:creationId xmlns:a16="http://schemas.microsoft.com/office/drawing/2014/main" id="{8853CBAC-4194-0157-208A-5E5235791C6D}"/>
              </a:ext>
            </a:extLst>
          </p:cNvPr>
          <p:cNvPicPr preferRelativeResize="0"/>
          <p:nvPr/>
        </p:nvPicPr>
        <p:blipFill>
          <a:blip r:embed="rId2">
            <a:alphaModFix/>
          </a:blip>
          <a:stretch>
            <a:fillRect/>
          </a:stretch>
        </p:blipFill>
        <p:spPr>
          <a:xfrm>
            <a:off x="4572000" y="912127"/>
            <a:ext cx="3984375" cy="3575299"/>
          </a:xfrm>
          <a:prstGeom prst="rect">
            <a:avLst/>
          </a:prstGeom>
          <a:noFill/>
          <a:ln>
            <a:noFill/>
          </a:ln>
        </p:spPr>
      </p:pic>
      <p:sp>
        <p:nvSpPr>
          <p:cNvPr id="5" name="TextBox 4">
            <a:extLst>
              <a:ext uri="{FF2B5EF4-FFF2-40B4-BE49-F238E27FC236}">
                <a16:creationId xmlns:a16="http://schemas.microsoft.com/office/drawing/2014/main" id="{FCE1B472-4CC2-0693-C1BB-5812A4769412}"/>
              </a:ext>
            </a:extLst>
          </p:cNvPr>
          <p:cNvSpPr txBox="1"/>
          <p:nvPr/>
        </p:nvSpPr>
        <p:spPr>
          <a:xfrm>
            <a:off x="587625" y="4083627"/>
            <a:ext cx="3984374" cy="584775"/>
          </a:xfrm>
          <a:prstGeom prst="rect">
            <a:avLst/>
          </a:prstGeom>
          <a:noFill/>
        </p:spPr>
        <p:txBody>
          <a:bodyPr wrap="square" rtlCol="1">
            <a:spAutoFit/>
          </a:bodyPr>
          <a:lstStyle/>
          <a:p>
            <a:r>
              <a:rPr lang="en-US" sz="1600" b="1" dirty="0">
                <a:solidFill>
                  <a:schemeClr val="tx2">
                    <a:lumMod val="25000"/>
                  </a:schemeClr>
                </a:solidFill>
              </a:rPr>
              <a:t>Prepared by: </a:t>
            </a:r>
            <a:r>
              <a:rPr lang="en-US" sz="1600" b="1" dirty="0" err="1">
                <a:solidFill>
                  <a:schemeClr val="tx2">
                    <a:lumMod val="25000"/>
                  </a:schemeClr>
                </a:solidFill>
              </a:rPr>
              <a:t>Parnaz</a:t>
            </a:r>
            <a:r>
              <a:rPr lang="en-US" sz="1600" b="1" dirty="0">
                <a:solidFill>
                  <a:schemeClr val="tx2">
                    <a:lumMod val="25000"/>
                  </a:schemeClr>
                </a:solidFill>
              </a:rPr>
              <a:t> Ali</a:t>
            </a:r>
          </a:p>
          <a:p>
            <a:r>
              <a:rPr lang="en-US" sz="1600" b="1" dirty="0">
                <a:solidFill>
                  <a:schemeClr val="tx2">
                    <a:lumMod val="25000"/>
                  </a:schemeClr>
                </a:solidFill>
              </a:rPr>
              <a:t>Contact: parnazali1383@gmail.com</a:t>
            </a:r>
            <a:endParaRPr lang="fa-IR" sz="1600" b="1" dirty="0">
              <a:solidFill>
                <a:schemeClr val="tx2">
                  <a:lumMod val="25000"/>
                </a:schemeClr>
              </a:solidFill>
            </a:endParaRPr>
          </a:p>
        </p:txBody>
      </p:sp>
    </p:spTree>
    <p:extLst>
      <p:ext uri="{BB962C8B-B14F-4D97-AF65-F5344CB8AC3E}">
        <p14:creationId xmlns:p14="http://schemas.microsoft.com/office/powerpoint/2010/main" val="3148609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resources</a:t>
            </a:r>
            <a:endParaRPr/>
          </a:p>
        </p:txBody>
      </p:sp>
      <p:sp>
        <p:nvSpPr>
          <p:cNvPr id="583" name="Google Shape;583;p47"/>
          <p:cNvSpPr txBox="1"/>
          <p:nvPr/>
        </p:nvSpPr>
        <p:spPr>
          <a:xfrm>
            <a:off x="726775" y="1017725"/>
            <a:ext cx="77040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1"/>
                </a:solidFill>
                <a:latin typeface="Libre Franklin"/>
                <a:ea typeface="Libre Franklin"/>
                <a:cs typeface="Libre Franklin"/>
                <a:sym typeface="Libre Franklin"/>
              </a:rPr>
              <a:t>Here’s an assortment of alternative resources whose style fits that of this template:</a:t>
            </a:r>
            <a:endParaRPr sz="1200">
              <a:solidFill>
                <a:schemeClr val="dk1"/>
              </a:solidFill>
              <a:latin typeface="Libre Franklin"/>
              <a:ea typeface="Libre Franklin"/>
              <a:cs typeface="Libre Franklin"/>
              <a:sym typeface="Libre Franklin"/>
            </a:endParaRPr>
          </a:p>
          <a:p>
            <a:pPr marL="0" lvl="0" indent="0" algn="l" rtl="0">
              <a:spcBef>
                <a:spcPts val="0"/>
              </a:spcBef>
              <a:spcAft>
                <a:spcPts val="0"/>
              </a:spcAft>
              <a:buNone/>
            </a:pPr>
            <a:r>
              <a:rPr lang="en" sz="1200" b="1">
                <a:solidFill>
                  <a:schemeClr val="dk1"/>
                </a:solidFill>
                <a:latin typeface="Libre Franklin"/>
                <a:ea typeface="Libre Franklin"/>
                <a:cs typeface="Libre Franklin"/>
                <a:sym typeface="Libre Franklin"/>
              </a:rPr>
              <a:t>Vectors:</a:t>
            </a:r>
            <a:endParaRPr sz="1200" b="1">
              <a:solidFill>
                <a:schemeClr val="dk1"/>
              </a:solidFill>
              <a:latin typeface="Libre Franklin"/>
              <a:ea typeface="Libre Franklin"/>
              <a:cs typeface="Libre Franklin"/>
              <a:sym typeface="Libre Franklin"/>
            </a:endParaRPr>
          </a:p>
          <a:p>
            <a:pPr marL="457200" lvl="0" indent="-304800" algn="l" rtl="0">
              <a:spcBef>
                <a:spcPts val="0"/>
              </a:spcBef>
              <a:spcAft>
                <a:spcPts val="0"/>
              </a:spcAft>
              <a:buClr>
                <a:schemeClr val="dk1"/>
              </a:buClr>
              <a:buSzPts val="1200"/>
              <a:buFont typeface="Libre Franklin"/>
              <a:buChar char="●"/>
            </a:pPr>
            <a:r>
              <a:rPr lang="en" sz="1200" u="sng">
                <a:solidFill>
                  <a:schemeClr val="hlink"/>
                </a:solidFill>
                <a:latin typeface="Libre Franklin"/>
                <a:ea typeface="Libre Franklin"/>
                <a:cs typeface="Libre Franklin"/>
                <a:sym typeface="Libre Franklin"/>
                <a:hlinkClick r:id="rId3"/>
              </a:rPr>
              <a:t>Artificial intelligence isometric with set of icons illustrated modern innovative technologies</a:t>
            </a:r>
            <a:endParaRPr sz="1200">
              <a:solidFill>
                <a:schemeClr val="dk1"/>
              </a:solidFill>
              <a:latin typeface="Libre Franklin"/>
              <a:ea typeface="Libre Franklin"/>
              <a:cs typeface="Libre Franklin"/>
              <a:sym typeface="Libre Franklin"/>
            </a:endParaRPr>
          </a:p>
          <a:p>
            <a:pPr marL="0" lvl="0" indent="0" algn="l" rtl="0">
              <a:spcBef>
                <a:spcPts val="0"/>
              </a:spcBef>
              <a:spcAft>
                <a:spcPts val="0"/>
              </a:spcAft>
              <a:buNone/>
            </a:pPr>
            <a:endParaRPr sz="1200" b="1">
              <a:solidFill>
                <a:schemeClr val="dk1"/>
              </a:solidFill>
              <a:latin typeface="Libre Franklin"/>
              <a:ea typeface="Libre Franklin"/>
              <a:cs typeface="Libre Franklin"/>
              <a:sym typeface="Libre Franklin"/>
            </a:endParaRPr>
          </a:p>
          <a:p>
            <a:pPr marL="0" lvl="0" indent="0" algn="l" rtl="0">
              <a:spcBef>
                <a:spcPts val="0"/>
              </a:spcBef>
              <a:spcAft>
                <a:spcPts val="0"/>
              </a:spcAft>
              <a:buNone/>
            </a:pPr>
            <a:endParaRPr sz="1200" b="1">
              <a:solidFill>
                <a:schemeClr val="dk1"/>
              </a:solidFill>
              <a:latin typeface="Libre Franklin"/>
              <a:ea typeface="Libre Franklin"/>
              <a:cs typeface="Libre Franklin"/>
              <a:sym typeface="Libre Franklin"/>
            </a:endParaRPr>
          </a:p>
        </p:txBody>
      </p:sp>
      <p:pic>
        <p:nvPicPr>
          <p:cNvPr id="584" name="Google Shape;584;p47"/>
          <p:cNvPicPr preferRelativeResize="0"/>
          <p:nvPr/>
        </p:nvPicPr>
        <p:blipFill>
          <a:blip r:embed="rId4">
            <a:alphaModFix/>
          </a:blip>
          <a:stretch>
            <a:fillRect/>
          </a:stretch>
        </p:blipFill>
        <p:spPr>
          <a:xfrm>
            <a:off x="5852247" y="1762600"/>
            <a:ext cx="990190" cy="1531097"/>
          </a:xfrm>
          <a:prstGeom prst="rect">
            <a:avLst/>
          </a:prstGeom>
          <a:noFill/>
          <a:ln>
            <a:noFill/>
          </a:ln>
        </p:spPr>
      </p:pic>
      <p:pic>
        <p:nvPicPr>
          <p:cNvPr id="585" name="Google Shape;585;p47"/>
          <p:cNvPicPr preferRelativeResize="0"/>
          <p:nvPr/>
        </p:nvPicPr>
        <p:blipFill>
          <a:blip r:embed="rId5">
            <a:alphaModFix/>
          </a:blip>
          <a:stretch>
            <a:fillRect/>
          </a:stretch>
        </p:blipFill>
        <p:spPr>
          <a:xfrm>
            <a:off x="2229750" y="2059501"/>
            <a:ext cx="1204758" cy="1179163"/>
          </a:xfrm>
          <a:prstGeom prst="rect">
            <a:avLst/>
          </a:prstGeom>
          <a:noFill/>
          <a:ln>
            <a:noFill/>
          </a:ln>
        </p:spPr>
      </p:pic>
      <p:pic>
        <p:nvPicPr>
          <p:cNvPr id="586" name="Google Shape;586;p47"/>
          <p:cNvPicPr preferRelativeResize="0"/>
          <p:nvPr/>
        </p:nvPicPr>
        <p:blipFill>
          <a:blip r:embed="rId6">
            <a:alphaModFix/>
          </a:blip>
          <a:stretch>
            <a:fillRect/>
          </a:stretch>
        </p:blipFill>
        <p:spPr>
          <a:xfrm>
            <a:off x="3905058" y="3525197"/>
            <a:ext cx="1231146" cy="1078804"/>
          </a:xfrm>
          <a:prstGeom prst="rect">
            <a:avLst/>
          </a:prstGeom>
          <a:noFill/>
          <a:ln>
            <a:noFill/>
          </a:ln>
        </p:spPr>
      </p:pic>
      <p:pic>
        <p:nvPicPr>
          <p:cNvPr id="587" name="Google Shape;587;p47"/>
          <p:cNvPicPr preferRelativeResize="0"/>
          <p:nvPr/>
        </p:nvPicPr>
        <p:blipFill>
          <a:blip r:embed="rId7">
            <a:alphaModFix/>
          </a:blip>
          <a:stretch>
            <a:fillRect/>
          </a:stretch>
        </p:blipFill>
        <p:spPr>
          <a:xfrm>
            <a:off x="5741516" y="3373169"/>
            <a:ext cx="1117684" cy="1179167"/>
          </a:xfrm>
          <a:prstGeom prst="rect">
            <a:avLst/>
          </a:prstGeom>
          <a:noFill/>
          <a:ln>
            <a:noFill/>
          </a:ln>
        </p:spPr>
      </p:pic>
      <p:pic>
        <p:nvPicPr>
          <p:cNvPr id="588" name="Google Shape;588;p47"/>
          <p:cNvPicPr preferRelativeResize="0"/>
          <p:nvPr/>
        </p:nvPicPr>
        <p:blipFill>
          <a:blip r:embed="rId8">
            <a:alphaModFix/>
          </a:blip>
          <a:stretch>
            <a:fillRect/>
          </a:stretch>
        </p:blipFill>
        <p:spPr>
          <a:xfrm>
            <a:off x="2458245" y="3351715"/>
            <a:ext cx="841504" cy="1179166"/>
          </a:xfrm>
          <a:prstGeom prst="rect">
            <a:avLst/>
          </a:prstGeom>
          <a:noFill/>
          <a:ln>
            <a:noFill/>
          </a:ln>
        </p:spPr>
      </p:pic>
      <p:pic>
        <p:nvPicPr>
          <p:cNvPr id="589" name="Google Shape;589;p47"/>
          <p:cNvPicPr preferRelativeResize="0"/>
          <p:nvPr/>
        </p:nvPicPr>
        <p:blipFill>
          <a:blip r:embed="rId9">
            <a:alphaModFix/>
          </a:blip>
          <a:stretch>
            <a:fillRect/>
          </a:stretch>
        </p:blipFill>
        <p:spPr>
          <a:xfrm>
            <a:off x="3770815" y="2004481"/>
            <a:ext cx="1745126" cy="1289209"/>
          </a:xfrm>
          <a:prstGeom prst="rect">
            <a:avLst/>
          </a:prstGeom>
          <a:noFill/>
          <a:ln>
            <a:noFill/>
          </a:ln>
        </p:spPr>
      </p:pic>
    </p:spTree>
  </p:cSld>
  <p:clrMapOvr>
    <a:masterClrMapping/>
  </p:clrMapOvr>
</p:sld>
</file>

<file path=ppt/theme/theme1.xml><?xml version="1.0" encoding="utf-8"?>
<a:theme xmlns:a="http://schemas.openxmlformats.org/drawingml/2006/main" name="Big Data Analytics Project Proposal by Slidesgo">
  <a:themeElements>
    <a:clrScheme name="Simple Light">
      <a:dk1>
        <a:srgbClr val="1F0F61"/>
      </a:dk1>
      <a:lt1>
        <a:srgbClr val="FCF1FC"/>
      </a:lt1>
      <a:dk2>
        <a:srgbClr val="EEE9F5"/>
      </a:dk2>
      <a:lt2>
        <a:srgbClr val="EEC0FB"/>
      </a:lt2>
      <a:accent1>
        <a:srgbClr val="6B5DA3"/>
      </a:accent1>
      <a:accent2>
        <a:srgbClr val="7B7BBE"/>
      </a:accent2>
      <a:accent3>
        <a:srgbClr val="FFFFFF"/>
      </a:accent3>
      <a:accent4>
        <a:srgbClr val="FFFFFF"/>
      </a:accent4>
      <a:accent5>
        <a:srgbClr val="FFFFFF"/>
      </a:accent5>
      <a:accent6>
        <a:srgbClr val="FFFFFF"/>
      </a:accent6>
      <a:hlink>
        <a:srgbClr val="1F0F6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614</TotalTime>
  <Words>2051</Words>
  <Application>Microsoft Office PowerPoint</Application>
  <PresentationFormat>On-screen Show (16:9)</PresentationFormat>
  <Paragraphs>68</Paragraphs>
  <Slides>22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Nunito Light</vt:lpstr>
      <vt:lpstr>Libre Franklin</vt:lpstr>
      <vt:lpstr>Raleway</vt:lpstr>
      <vt:lpstr>Sofia Sans</vt:lpstr>
      <vt:lpstr>Open Sans</vt:lpstr>
      <vt:lpstr>Sofia Sans SemiBold</vt:lpstr>
      <vt:lpstr>Big Data Analytics Project Proposal by Slidesgo</vt:lpstr>
      <vt:lpstr>Customer Behavior &amp; Sales Analysis</vt:lpstr>
      <vt:lpstr>About Dataset  This dataset contains real transactional records from a UK-based e-commerce retailer specializing in giftware and home décor products. The majority of products are designed for seasonal gifting and personal presents, making the dataset highly suitable for retail and customer behavior analysis.  Although the company is based in the United Kingdom, it operates on an international scale and has customers from various regions, including Europe, Asia, and other parts of the world. This provides an opportunity to analyze both domestic and cross-border purchasing behavior.  For this project, a filtered subset of the original data has been used, covering transactions from late 2010 through the end of 2011. This period was selected to ensure consistency and focus on a complete yearly cycle of customer behavior.</vt:lpstr>
      <vt:lpstr>Project Overview</vt:lpstr>
      <vt:lpstr>Let’s start with the first chart</vt:lpstr>
      <vt:lpstr>This visualization presents the top 5 countries based on total sales and quantity sold, indicating that these countries account for a substantial share of overall transactions.</vt:lpstr>
      <vt:lpstr>The bar chart clearly demonstrates that the United Kingdom accounted for the highest share of both total sales revenue and sales quantity, with a significant lead over the other top four countries. The Netherlands and Eire ranked second and third respectively, while Germany and France occupied the fourth and fifth positions. Overall, the analysis highlights the company’s strong market presence and effective sales strategies in the UK. The findings also reveal a high dependency on the UK market, which may create potential business risks in the long term. In addition, customer purchasing behavior appears to vary across countries, suggesting the need for more localized marketing strategies and region-specific business approaches.   Key Business Insight: The business is highly successful in the UK market, but future growth opportunities largely depend on strengthening international market penetration and reducing reliance on a single dominant region. </vt:lpstr>
      <vt:lpstr>1.The marketing team should develop targeted marketing campaigns in these countries to improve brand visibility and customer engagement.   2.The company should analyze local customer preferences and purchasing behavior more carefully.   3.Offering products tailored to local market demands may help attract more international customers and strengthen global sales performance.   4.Expanding international operations could diversify revenue streams and reduce market concentration risk.  </vt:lpstr>
      <vt:lpstr>This bar chart illustrates the top five countries based on the number of customers they attracted.</vt:lpstr>
      <vt:lpstr>This graph follows a similar trend to the previous bar chart. It is clearly evident that the United Kingdom attracted the highest number of customers, with a significant difference compared to the other countries.  One notable finding, however, is that although the Netherlands ranked second in terms of both sales quantity and total revenue, it had the lowest number of customers among the top five countries by a considerable margin. This suggests that customers in the Netherlands tend to purchase larger quantities of products and spend higher amounts per transaction.  On the other hand, Germany, France, and Eire showed relatively similar customer counts, which aligns closely with their sales quantity and revenue  performance.  Overall, customer count alone does not define market strength; customer value and purchasing behavior provide a more accurate picture of market performance. </vt:lpstr>
      <vt:lpstr>Recommendations:</vt:lpstr>
      <vt:lpstr>Customer Distribution By RFM Segment </vt:lpstr>
      <vt:lpstr>As illustrated in the previous slide, customers are segmented into five groups based on the RFM analysis: VIP, Frequent Buyers, Active, At Risk, and Regular customers.  -VIP customers are the most valuable segment, with high frequency, recent purchases, and significant revenue contribution, playing a key role in overall sales performance.  -Frequent Buyers show consistent purchasing behavior and represent a stable revenue source, although their engagement levels may vary.  -Active customers have recent purchase activity but varying frequency and monetary value, indicating potential for further engagement.  -The At Risk segment is critical, as these customers have not purchased recently and show a high likelihood of churn, requiring immediate retention actions.  -Regular customers do not exhibit distinct behavioral patterns but form a stable base that can be further developed over time. </vt:lpstr>
      <vt:lpstr>First and foremost, the company should prioritize proactive retention strategies for the At Risk customer segment, as this group presents a high probability of churn and revenue loss. Targeted incentives such as personalized discounts and mobile or email notifications can be effective in re-engaging these customers. In addition, leveraging customer purchase history to deliver personalized product recommendations can significantly improve relevance and increase the likelihood of reactivation. Finally, capturing structured feedback from inactive customers is important to identify underlying issues and reduce future churn across the customer base. It is also important to note that this segment is highly time-sensitive; the longer these customers remain inactive, the more likely they are to switch to competitors. Over time, the probability of winning them back decreases significantly, and reactivation may become extremely difficult or even impossible. </vt:lpstr>
      <vt:lpstr>PowerPoint Presentation</vt:lpstr>
      <vt:lpstr>This bar chart is also derived from the RFM analysis. This segmentation groups customers into five categories to provide a clearer understanding of customer behavior and value. </vt:lpstr>
      <vt:lpstr>The revenue contribution analysis based on RFM customer segmentation reveals a highly concentrated distribution across customer groups. Among all five segments, VIP customers generate the highest share of total revenue, outperforming the remaining segments by a significant margin of nearly 4 million, showing that a small group of highly loyal, high-frequency customers is the main driver of profitability. Frequent Buyers represent the second most valuable segment, highlighting the importance of repeat purchasing behavior in sustaining revenue. After these two dominant groups, revenue drops noticeably: the At Risk segment contributes moderately lower revenue, while Active and Regular customers account for the smallest shares with only minor differences between them. This sharp decline shows an uneven distribution of customer value. Overall, the results emphasize the importance of retaining high-value customers through loyalty programs, personalized marketing, and engagement strategies, while also presenting opportunities to reactivate and upsell lower-performing segments to improve long-term customer lifetime value and revenue sustainability.</vt:lpstr>
      <vt:lpstr>PowerPoint Presentation</vt:lpstr>
      <vt:lpstr>Here we have a line graph showing the number of orders across different time periods, highlighting peak hours and demand fluctuations throughout the day.</vt:lpstr>
      <vt:lpstr>Orders were recorded from 6 a.m. to 9 p.m., which were divided into four time intervals of three hours each.  As can be observed, the number of sales is at its lowest between 6 a.m. and 9 a.m. However, from 10 a.m. onwards, sales gradually increase and reach a significant level during the 10 a.m. to 1 p.m. period, indicating higher customer activity during mid-day hours.  In comparison, sales decrease by approximately 5,000 orders in the 2 p.m. to 5 p.m. interval. Ultimately, the highest number of sales is recorded between 6 p.m. and 9 p.m., representing the peak shopping hours of the day.  This pattern suggests a clear concentration of customer purchasing behavior in the evening, indicating that promotional campaigns and marketing activities would likely be more effective if scheduled during peak hours. In contrast, early morning hours show consistently low engagement, highlighting a potential opportunity for targeted promotions to increase off-peak sales.</vt:lpstr>
      <vt:lpstr>PowerPoint Presentation</vt:lpstr>
      <vt:lpstr>Thank you for your attention.</vt:lpstr>
      <vt:lpstr>Alternative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paria ali</dc:creator>
  <cp:lastModifiedBy>persian</cp:lastModifiedBy>
  <cp:revision>19</cp:revision>
  <dcterms:modified xsi:type="dcterms:W3CDTF">2026-05-09T07:46:11Z</dcterms:modified>
</cp:coreProperties>
</file>